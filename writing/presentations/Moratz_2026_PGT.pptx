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1" r:id="rId2"/>
    <p:sldId id="258" r:id="rId3"/>
    <p:sldId id="262" r:id="rId4"/>
    <p:sldId id="260" r:id="rId5"/>
    <p:sldId id="263" r:id="rId6"/>
    <p:sldId id="264" r:id="rId7"/>
    <p:sldId id="265" r:id="rId8"/>
    <p:sldId id="266" r:id="rId9"/>
    <p:sldId id="268" r:id="rId10"/>
    <p:sldId id="267" r:id="rId11"/>
    <p:sldId id="271" r:id="rId12"/>
    <p:sldId id="269"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87653" autoAdjust="0"/>
  </p:normalViewPr>
  <p:slideViewPr>
    <p:cSldViewPr snapToGrid="0">
      <p:cViewPr>
        <p:scale>
          <a:sx n="100" d="100"/>
          <a:sy n="100" d="100"/>
        </p:scale>
        <p:origin x="42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385E03-553C-42F6-8BB5-C1E592C8E0D5}" type="datetimeFigureOut">
              <a:rPr lang="en-US" smtClean="0"/>
              <a:t>3/25/2026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1963E9-DFCA-4928-813C-A5344C7ACC22}" type="slidenum">
              <a:rPr lang="en-US" smtClean="0"/>
              <a:t>‹#›</a:t>
            </a:fld>
            <a:endParaRPr lang="en-US"/>
          </a:p>
        </p:txBody>
      </p:sp>
    </p:spTree>
    <p:extLst>
      <p:ext uri="{BB962C8B-B14F-4D97-AF65-F5344CB8AC3E}">
        <p14:creationId xmlns:p14="http://schemas.microsoft.com/office/powerpoint/2010/main" val="2083931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seconds: The Signaling Gap… February 24, 2022. Russia invades Ukraine… I'm Donald Moratz. I'd like to start with a question.</a:t>
            </a:r>
          </a:p>
        </p:txBody>
      </p:sp>
      <p:sp>
        <p:nvSpPr>
          <p:cNvPr id="4" name="Slide Number Placeholder 3"/>
          <p:cNvSpPr>
            <a:spLocks noGrp="1"/>
          </p:cNvSpPr>
          <p:nvPr>
            <p:ph type="sldNum" sz="quarter" idx="5"/>
          </p:nvPr>
        </p:nvSpPr>
        <p:spPr/>
        <p:txBody>
          <a:bodyPr/>
          <a:lstStyle/>
          <a:p>
            <a:fld id="{CF1963E9-DFCA-4928-813C-A5344C7ACC22}" type="slidenum">
              <a:rPr lang="en-US" smtClean="0"/>
              <a:t>1</a:t>
            </a:fld>
            <a:endParaRPr lang="en-US"/>
          </a:p>
        </p:txBody>
      </p:sp>
    </p:spTree>
    <p:extLst>
      <p:ext uri="{BB962C8B-B14F-4D97-AF65-F5344CB8AC3E}">
        <p14:creationId xmlns:p14="http://schemas.microsoft.com/office/powerpoint/2010/main" val="4051287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Imagine you lead Kazakhstan. Russia — your treaty ally, your security guarantor — just launched the largest land war in Europe since World War II. Kazakhstan depends on Russia for its security. But nearly half its trade is with the West. It's caught between two worlds. You can't vote against Russia at the UN. You can't issue a public condemnation. But you need the West to know you're not on board with this. What do you do?</a:t>
            </a:r>
          </a:p>
        </p:txBody>
      </p:sp>
      <p:sp>
        <p:nvSpPr>
          <p:cNvPr id="4" name="Slide Number Placeholder 3"/>
          <p:cNvSpPr>
            <a:spLocks noGrp="1"/>
          </p:cNvSpPr>
          <p:nvPr>
            <p:ph type="sldNum" sz="quarter" idx="5"/>
          </p:nvPr>
        </p:nvSpPr>
        <p:spPr/>
        <p:txBody>
          <a:bodyPr/>
          <a:lstStyle/>
          <a:p>
            <a:fld id="{CF1963E9-DFCA-4928-813C-A5344C7ACC22}" type="slidenum">
              <a:rPr lang="en-US" smtClean="0"/>
              <a:t>2</a:t>
            </a:fld>
            <a:endParaRPr lang="en-US"/>
          </a:p>
        </p:txBody>
      </p:sp>
    </p:spTree>
    <p:extLst>
      <p:ext uri="{BB962C8B-B14F-4D97-AF65-F5344CB8AC3E}">
        <p14:creationId xmlns:p14="http://schemas.microsoft.com/office/powerpoint/2010/main" val="831244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30 Seconds: The answer is: you use your state media. Not a press conference, not a diplomatic cable — the news coverage itself. And here's the thing — this isn't a new trick. The BBC started systematically monitoring state media in 1939. The predecessor to the CIA followed suit in 1941. For the entire Cold War, Western analysts read Soviet and satellite state media not as journalism but as political text — shifts in tone meant shifts in policy. </a:t>
            </a:r>
            <a:r>
              <a:rPr lang="en-US" dirty="0"/>
              <a:t>And this isn't slowing down — the U.S. Intelligence Community made state media monitoring a core part of its strategy just two years ago.</a:t>
            </a:r>
          </a:p>
        </p:txBody>
      </p:sp>
      <p:sp>
        <p:nvSpPr>
          <p:cNvPr id="4" name="Slide Number Placeholder 3"/>
          <p:cNvSpPr>
            <a:spLocks noGrp="1"/>
          </p:cNvSpPr>
          <p:nvPr>
            <p:ph type="sldNum" sz="quarter" idx="5"/>
          </p:nvPr>
        </p:nvSpPr>
        <p:spPr/>
        <p:txBody>
          <a:bodyPr/>
          <a:lstStyle/>
          <a:p>
            <a:fld id="{CF1963E9-DFCA-4928-813C-A5344C7ACC22}" type="slidenum">
              <a:rPr lang="en-US" smtClean="0"/>
              <a:t>3</a:t>
            </a:fld>
            <a:endParaRPr lang="en-US"/>
          </a:p>
        </p:txBody>
      </p:sp>
    </p:spTree>
    <p:extLst>
      <p:ext uri="{BB962C8B-B14F-4D97-AF65-F5344CB8AC3E}">
        <p14:creationId xmlns:p14="http://schemas.microsoft.com/office/powerpoint/2010/main" val="2585858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Political science has built a huge literature on state media — and almost all of it is about domestic audiences. How governments control what their own people think. Agenda setting, framing, spin dictators. But the people whose </a:t>
            </a:r>
            <a:r>
              <a:rPr lang="en-US" i="1" dirty="0"/>
              <a:t>job</a:t>
            </a:r>
            <a:r>
              <a:rPr lang="en-US" dirty="0"/>
              <a:t> it is to understand what regimes actually believe — intelligence analysts — have operated on a completely different assumption. They read state media as a signal of what the regime thinks, not just what it wants the public to think. These two literatures have been sitting side by side for decades without talking to each other. We connect them.</a:t>
            </a:r>
          </a:p>
        </p:txBody>
      </p:sp>
      <p:sp>
        <p:nvSpPr>
          <p:cNvPr id="4" name="Slide Number Placeholder 3"/>
          <p:cNvSpPr>
            <a:spLocks noGrp="1"/>
          </p:cNvSpPr>
          <p:nvPr>
            <p:ph type="sldNum" sz="quarter" idx="5"/>
          </p:nvPr>
        </p:nvSpPr>
        <p:spPr/>
        <p:txBody>
          <a:bodyPr/>
          <a:lstStyle/>
          <a:p>
            <a:fld id="{CF1963E9-DFCA-4928-813C-A5344C7ACC22}" type="slidenum">
              <a:rPr lang="en-US" smtClean="0"/>
              <a:t>4</a:t>
            </a:fld>
            <a:endParaRPr lang="en-US"/>
          </a:p>
        </p:txBody>
      </p:sp>
    </p:spTree>
    <p:extLst>
      <p:ext uri="{BB962C8B-B14F-4D97-AF65-F5344CB8AC3E}">
        <p14:creationId xmlns:p14="http://schemas.microsoft.com/office/powerpoint/2010/main" val="377764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Why does this channel work? Three reasons. First, it's readable — everyone knows Kazakh state media is under government control, so when it shifts against Russia, foreign analysts don't read that as independent journalism. They read it as a regime choice. Second, it's costly — letting your state media go negative on the country that guarantees your security is a real risk. Moscow could notice. That cost is what makes the signal credible. And third — and this is crucial — it's deniable. If Moscow confronts you, there's an institutional off-ramp — the government didn't write the article, the newsroom did. Moscow knows what's happening, but there's nothing formal to retaliate against. That combination — visible enough to be read, costly enough to be believed, deniable enough to be sustained — is what makes state media the right channel for this kind of communication.</a:t>
            </a:r>
          </a:p>
        </p:txBody>
      </p:sp>
      <p:sp>
        <p:nvSpPr>
          <p:cNvPr id="4" name="Slide Number Placeholder 3"/>
          <p:cNvSpPr>
            <a:spLocks noGrp="1"/>
          </p:cNvSpPr>
          <p:nvPr>
            <p:ph type="sldNum" sz="quarter" idx="5"/>
          </p:nvPr>
        </p:nvSpPr>
        <p:spPr/>
        <p:txBody>
          <a:bodyPr/>
          <a:lstStyle/>
          <a:p>
            <a:fld id="{CF1963E9-DFCA-4928-813C-A5344C7ACC22}" type="slidenum">
              <a:rPr lang="en-US" smtClean="0"/>
              <a:t>5</a:t>
            </a:fld>
            <a:endParaRPr lang="en-US"/>
          </a:p>
        </p:txBody>
      </p:sp>
    </p:spTree>
    <p:extLst>
      <p:ext uri="{BB962C8B-B14F-4D97-AF65-F5344CB8AC3E}">
        <p14:creationId xmlns:p14="http://schemas.microsoft.com/office/powerpoint/2010/main" val="1505155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A quick word on the data. We collected 174,000 news articles from 11 countries in Russia's near abroad — six months before and after the invasion. We used GPT-4o to score sentiment toward Russia at the article level, validated against human coding with an F1 of .92. Our identification strategy is a regression discontinuity — February 24 is our cutoff, and the sharp, unexpected nature of the full-scale invasion is what makes this work. We compare three groups: states with Russian security agreements — Armenia, Azerbaijan, Belarus, Kazakhstan. Neutral states — Georgia, Moldova, Kosovo, Serbia. And NATO members --- Albania, Hungary and Turkey as an additional reference point.</a:t>
            </a:r>
          </a:p>
        </p:txBody>
      </p:sp>
      <p:sp>
        <p:nvSpPr>
          <p:cNvPr id="4" name="Slide Number Placeholder 3"/>
          <p:cNvSpPr>
            <a:spLocks noGrp="1"/>
          </p:cNvSpPr>
          <p:nvPr>
            <p:ph type="sldNum" sz="quarter" idx="5"/>
          </p:nvPr>
        </p:nvSpPr>
        <p:spPr/>
        <p:txBody>
          <a:bodyPr/>
          <a:lstStyle/>
          <a:p>
            <a:fld id="{CF1963E9-DFCA-4928-813C-A5344C7ACC22}" type="slidenum">
              <a:rPr lang="en-US" smtClean="0"/>
              <a:t>6</a:t>
            </a:fld>
            <a:endParaRPr lang="en-US"/>
          </a:p>
        </p:txBody>
      </p:sp>
    </p:spTree>
    <p:extLst>
      <p:ext uri="{BB962C8B-B14F-4D97-AF65-F5344CB8AC3E}">
        <p14:creationId xmlns:p14="http://schemas.microsoft.com/office/powerpoint/2010/main" val="41534574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Seconds: First, does the invasion actually matter? Yes. Across all media — state and independent — sentiment toward Russia drops sharply on February 24. You can see the clean break at the dashed line. That discontinuity is what makes everything after this interpretable.</a:t>
            </a:r>
          </a:p>
        </p:txBody>
      </p:sp>
      <p:sp>
        <p:nvSpPr>
          <p:cNvPr id="4" name="Slide Number Placeholder 3"/>
          <p:cNvSpPr>
            <a:spLocks noGrp="1"/>
          </p:cNvSpPr>
          <p:nvPr>
            <p:ph type="sldNum" sz="quarter" idx="5"/>
          </p:nvPr>
        </p:nvSpPr>
        <p:spPr/>
        <p:txBody>
          <a:bodyPr/>
          <a:lstStyle/>
          <a:p>
            <a:fld id="{CF1963E9-DFCA-4928-813C-A5344C7ACC22}" type="slidenum">
              <a:rPr lang="en-US" smtClean="0"/>
              <a:t>7</a:t>
            </a:fld>
            <a:endParaRPr lang="en-US"/>
          </a:p>
        </p:txBody>
      </p:sp>
    </p:spTree>
    <p:extLst>
      <p:ext uri="{BB962C8B-B14F-4D97-AF65-F5344CB8AC3E}">
        <p14:creationId xmlns:p14="http://schemas.microsoft.com/office/powerpoint/2010/main" val="9622119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93EF9-ACA8-1529-6C71-39FC0E0FE1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69EC35-B30D-4192-3540-809B0539B0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7C3F2-82D9-2870-7342-F6A46EABE242}"/>
              </a:ext>
            </a:extLst>
          </p:cNvPr>
          <p:cNvSpPr>
            <a:spLocks noGrp="1"/>
          </p:cNvSpPr>
          <p:nvPr>
            <p:ph type="body" idx="1"/>
          </p:nvPr>
        </p:nvSpPr>
        <p:spPr/>
        <p:txBody>
          <a:bodyPr/>
          <a:lstStyle/>
          <a:p>
            <a:r>
              <a:rPr lang="en-US" dirty="0"/>
              <a:t>20 Seconds: But the drop wasn't uniform. Independent media — the dark red line — fell much harder than state media — the orange line. State outlets managed their coverage. That's consistent with strategic control. But that average hides the real story.</a:t>
            </a:r>
          </a:p>
        </p:txBody>
      </p:sp>
      <p:sp>
        <p:nvSpPr>
          <p:cNvPr id="4" name="Slide Number Placeholder 3">
            <a:extLst>
              <a:ext uri="{FF2B5EF4-FFF2-40B4-BE49-F238E27FC236}">
                <a16:creationId xmlns:a16="http://schemas.microsoft.com/office/drawing/2014/main" id="{7E34AB11-D2AF-4D24-9582-939053EA9FAF}"/>
              </a:ext>
            </a:extLst>
          </p:cNvPr>
          <p:cNvSpPr>
            <a:spLocks noGrp="1"/>
          </p:cNvSpPr>
          <p:nvPr>
            <p:ph type="sldNum" sz="quarter" idx="5"/>
          </p:nvPr>
        </p:nvSpPr>
        <p:spPr/>
        <p:txBody>
          <a:bodyPr/>
          <a:lstStyle/>
          <a:p>
            <a:fld id="{CF1963E9-DFCA-4928-813C-A5344C7ACC22}" type="slidenum">
              <a:rPr lang="en-US" smtClean="0"/>
              <a:t>8</a:t>
            </a:fld>
            <a:endParaRPr lang="en-US"/>
          </a:p>
        </p:txBody>
      </p:sp>
    </p:spTree>
    <p:extLst>
      <p:ext uri="{BB962C8B-B14F-4D97-AF65-F5344CB8AC3E}">
        <p14:creationId xmlns:p14="http://schemas.microsoft.com/office/powerpoint/2010/main" val="1735513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07DF7-3051-FFB0-C318-B067F64C90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68A74-3A30-11A4-09C3-96A2E1FB58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8EB3BB-7728-A7F2-739F-6A39E18C1D6E}"/>
              </a:ext>
            </a:extLst>
          </p:cNvPr>
          <p:cNvSpPr>
            <a:spLocks noGrp="1"/>
          </p:cNvSpPr>
          <p:nvPr>
            <p:ph type="body" idx="1"/>
          </p:nvPr>
        </p:nvSpPr>
        <p:spPr/>
        <p:txBody>
          <a:bodyPr/>
          <a:lstStyle/>
          <a:p>
            <a:r>
              <a:rPr lang="en-US" dirty="0"/>
              <a:t>45 Seconds: So what should we expect when we zoom in on Russia's allies versus neutral states? Two theories make opposite predictions. [click] The domestic propaganda account predicts suppression — if you're allied with Russia, you protect that relationship by keeping negative coverage out of your state media. Russia-aligned states should be the </a:t>
            </a:r>
            <a:r>
              <a:rPr lang="en-US" i="1" dirty="0"/>
              <a:t>least</a:t>
            </a:r>
            <a:r>
              <a:rPr lang="en-US" dirty="0"/>
              <a:t> negative." [click] "The signaling account, our account, predicts the opposite — precisely because these states can't condemn Russia through formal channels, they amplify through the informal one. Russia-aligned states should be the </a:t>
            </a:r>
            <a:r>
              <a:rPr lang="en-US" i="1" dirty="0"/>
              <a:t>most</a:t>
            </a:r>
            <a:r>
              <a:rPr lang="en-US" dirty="0"/>
              <a:t> negative." "So which is it?” [PAUSE] [click]</a:t>
            </a:r>
          </a:p>
        </p:txBody>
      </p:sp>
      <p:sp>
        <p:nvSpPr>
          <p:cNvPr id="4" name="Slide Number Placeholder 3">
            <a:extLst>
              <a:ext uri="{FF2B5EF4-FFF2-40B4-BE49-F238E27FC236}">
                <a16:creationId xmlns:a16="http://schemas.microsoft.com/office/drawing/2014/main" id="{177FBF5B-5239-286F-F166-E068924E529C}"/>
              </a:ext>
            </a:extLst>
          </p:cNvPr>
          <p:cNvSpPr>
            <a:spLocks noGrp="1"/>
          </p:cNvSpPr>
          <p:nvPr>
            <p:ph type="sldNum" sz="quarter" idx="5"/>
          </p:nvPr>
        </p:nvSpPr>
        <p:spPr/>
        <p:txBody>
          <a:bodyPr/>
          <a:lstStyle/>
          <a:p>
            <a:fld id="{CF1963E9-DFCA-4928-813C-A5344C7ACC22}" type="slidenum">
              <a:rPr lang="en-US" smtClean="0"/>
              <a:t>9</a:t>
            </a:fld>
            <a:endParaRPr lang="en-US"/>
          </a:p>
        </p:txBody>
      </p:sp>
    </p:spTree>
    <p:extLst>
      <p:ext uri="{BB962C8B-B14F-4D97-AF65-F5344CB8AC3E}">
        <p14:creationId xmlns:p14="http://schemas.microsoft.com/office/powerpoint/2010/main" val="4982729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CA82E-BB45-8E4A-CA32-B1A99C52F7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958E37-3524-987D-EB2A-393CD798E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955DD9-A61A-038A-E868-A1D656C98DD6}"/>
              </a:ext>
            </a:extLst>
          </p:cNvPr>
          <p:cNvSpPr>
            <a:spLocks noGrp="1"/>
          </p:cNvSpPr>
          <p:nvPr>
            <p:ph type="body" idx="1"/>
          </p:nvPr>
        </p:nvSpPr>
        <p:spPr/>
        <p:txBody>
          <a:bodyPr/>
          <a:lstStyle/>
          <a:p>
            <a:r>
              <a:rPr lang="en-US" dirty="0"/>
              <a:t>60 Seconds: Here's the answer. The blue line is state media in Russia's formal allies. Before the invasion, they're sitting right around zero — neutral coverage. After February 24, they drop to the red line. Now look at the green line — state media in neutral states. Before and after the invasion, it barely moves. No discontinuity. The states with no alliance constraint had no signaling need, and their media reflects that. But the states that were formally bound to Russia — the ones with the </a:t>
            </a:r>
            <a:r>
              <a:rPr lang="en-US" i="1" dirty="0"/>
              <a:t>most</a:t>
            </a:r>
            <a:r>
              <a:rPr lang="en-US" dirty="0"/>
              <a:t> reason to suppress negative coverage — produced </a:t>
            </a:r>
            <a:r>
              <a:rPr lang="en-US" i="1" dirty="0"/>
              <a:t>more</a:t>
            </a:r>
            <a:r>
              <a:rPr lang="en-US" dirty="0"/>
              <a:t> of it. [PAUSE] That's not propaganda. That's a signal. [PAUSE] These regimes couldn't go to the UN, couldn't issue a formal condemnation — so they opened the one channel they could control and let the coverage do the talking. </a:t>
            </a:r>
          </a:p>
        </p:txBody>
      </p:sp>
      <p:sp>
        <p:nvSpPr>
          <p:cNvPr id="4" name="Slide Number Placeholder 3">
            <a:extLst>
              <a:ext uri="{FF2B5EF4-FFF2-40B4-BE49-F238E27FC236}">
                <a16:creationId xmlns:a16="http://schemas.microsoft.com/office/drawing/2014/main" id="{D1879BDC-EA7C-5FD1-AAF6-B67C9070696C}"/>
              </a:ext>
            </a:extLst>
          </p:cNvPr>
          <p:cNvSpPr>
            <a:spLocks noGrp="1"/>
          </p:cNvSpPr>
          <p:nvPr>
            <p:ph type="sldNum" sz="quarter" idx="5"/>
          </p:nvPr>
        </p:nvSpPr>
        <p:spPr/>
        <p:txBody>
          <a:bodyPr/>
          <a:lstStyle/>
          <a:p>
            <a:fld id="{CF1963E9-DFCA-4928-813C-A5344C7ACC22}" type="slidenum">
              <a:rPr lang="en-US" smtClean="0"/>
              <a:t>10</a:t>
            </a:fld>
            <a:endParaRPr lang="en-US"/>
          </a:p>
        </p:txBody>
      </p:sp>
    </p:spTree>
    <p:extLst>
      <p:ext uri="{BB962C8B-B14F-4D97-AF65-F5344CB8AC3E}">
        <p14:creationId xmlns:p14="http://schemas.microsoft.com/office/powerpoint/2010/main" val="15680350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4B06D-7786-DB13-D0E0-37AAB2819F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179777-BDD7-59FB-2400-A7EFDC4097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07C883-469D-799C-E0D4-430F8092F4CC}"/>
              </a:ext>
            </a:extLst>
          </p:cNvPr>
          <p:cNvSpPr>
            <a:spLocks noGrp="1"/>
          </p:cNvSpPr>
          <p:nvPr>
            <p:ph type="body" idx="1"/>
          </p:nvPr>
        </p:nvSpPr>
        <p:spPr/>
        <p:txBody>
          <a:bodyPr/>
          <a:lstStyle/>
          <a:p>
            <a:r>
              <a:rPr lang="en-US" dirty="0"/>
              <a:t>60 Seconds: These four countries — Armenia, Azerbaijan, Belarus, Kazakhstan — all refused to condemn Russia at the United Nations. None of them issued a public statement of opposition. But their state media told a different story. That gap between what they said formally and what their media said informally — that's the signaling gap. The data matches the signaling prediction.</a:t>
            </a:r>
          </a:p>
        </p:txBody>
      </p:sp>
      <p:sp>
        <p:nvSpPr>
          <p:cNvPr id="4" name="Slide Number Placeholder 3">
            <a:extLst>
              <a:ext uri="{FF2B5EF4-FFF2-40B4-BE49-F238E27FC236}">
                <a16:creationId xmlns:a16="http://schemas.microsoft.com/office/drawing/2014/main" id="{FA84065F-D733-29C0-B27C-2C702CAFC49B}"/>
              </a:ext>
            </a:extLst>
          </p:cNvPr>
          <p:cNvSpPr>
            <a:spLocks noGrp="1"/>
          </p:cNvSpPr>
          <p:nvPr>
            <p:ph type="sldNum" sz="quarter" idx="5"/>
          </p:nvPr>
        </p:nvSpPr>
        <p:spPr/>
        <p:txBody>
          <a:bodyPr/>
          <a:lstStyle/>
          <a:p>
            <a:fld id="{CF1963E9-DFCA-4928-813C-A5344C7ACC22}" type="slidenum">
              <a:rPr lang="en-US" smtClean="0"/>
              <a:t>11</a:t>
            </a:fld>
            <a:endParaRPr lang="en-US"/>
          </a:p>
        </p:txBody>
      </p:sp>
    </p:spTree>
    <p:extLst>
      <p:ext uri="{BB962C8B-B14F-4D97-AF65-F5344CB8AC3E}">
        <p14:creationId xmlns:p14="http://schemas.microsoft.com/office/powerpoint/2010/main" val="8614757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33744-B2B7-2061-FBF6-B0E87FB5A2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385841-A5EF-FC4F-98D6-81205635AE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0F336A-10AF-CC5B-A45F-C2A7099AB76E}"/>
              </a:ext>
            </a:extLst>
          </p:cNvPr>
          <p:cNvSpPr>
            <a:spLocks noGrp="1"/>
          </p:cNvSpPr>
          <p:nvPr>
            <p:ph type="body" idx="1"/>
          </p:nvPr>
        </p:nvSpPr>
        <p:spPr/>
        <p:txBody>
          <a:bodyPr/>
          <a:lstStyle/>
          <a:p>
            <a:r>
              <a:rPr lang="en-US" dirty="0"/>
              <a:t>45 Seconds: Three reasons this matters beyond IR. First, the core insight — that actors signal through informal channels when formal ones are constrained — isn't unique to foreign policy. Anyone who's worked in an organization with a hierarchy knows that when you can't say something publicly, you find other ways to say it. This is a general theory of constrained communication. Second, the theory-practice gap itself is a methodological lesson. Intelligence analysts have been sitting on this insight for 80 years. Political science hadn't formalized it. That gap probably exists in your subfield too — what do practitioners in your area know that we haven't studied yet? [PAUSE] Third, the tools now exist to do this at scale. Five years ago, scoring sentiment across 174,000 articles in multiple languages was a dissertation-length coding project. We did it with one model. That changes what questions are askable.</a:t>
            </a:r>
          </a:p>
        </p:txBody>
      </p:sp>
      <p:sp>
        <p:nvSpPr>
          <p:cNvPr id="4" name="Slide Number Placeholder 3">
            <a:extLst>
              <a:ext uri="{FF2B5EF4-FFF2-40B4-BE49-F238E27FC236}">
                <a16:creationId xmlns:a16="http://schemas.microsoft.com/office/drawing/2014/main" id="{50540C8C-C2D0-7C0B-5D74-696EDB52D7A2}"/>
              </a:ext>
            </a:extLst>
          </p:cNvPr>
          <p:cNvSpPr>
            <a:spLocks noGrp="1"/>
          </p:cNvSpPr>
          <p:nvPr>
            <p:ph type="sldNum" sz="quarter" idx="5"/>
          </p:nvPr>
        </p:nvSpPr>
        <p:spPr/>
        <p:txBody>
          <a:bodyPr/>
          <a:lstStyle/>
          <a:p>
            <a:fld id="{CF1963E9-DFCA-4928-813C-A5344C7ACC22}" type="slidenum">
              <a:rPr lang="en-US" smtClean="0"/>
              <a:t>12</a:t>
            </a:fld>
            <a:endParaRPr lang="en-US"/>
          </a:p>
        </p:txBody>
      </p:sp>
    </p:spTree>
    <p:extLst>
      <p:ext uri="{BB962C8B-B14F-4D97-AF65-F5344CB8AC3E}">
        <p14:creationId xmlns:p14="http://schemas.microsoft.com/office/powerpoint/2010/main" val="97005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DC998-879A-661A-07FA-636A444E3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55753-C069-4279-1C6F-771633E57E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71F1D3-6C05-0C97-0509-478B36B80E5F}"/>
              </a:ext>
            </a:extLst>
          </p:cNvPr>
          <p:cNvSpPr>
            <a:spLocks noGrp="1"/>
          </p:cNvSpPr>
          <p:nvPr>
            <p:ph type="body" idx="1"/>
          </p:nvPr>
        </p:nvSpPr>
        <p:spPr/>
        <p:txBody>
          <a:bodyPr/>
          <a:lstStyle/>
          <a:p>
            <a:r>
              <a:rPr lang="en-US" dirty="0"/>
              <a:t>We started with a question: what do you do when you can't say what you think? The answer, it turns out, is the same one intelligence analysts have known for 80 years — you let your media say it for you. Thank you.</a:t>
            </a:r>
          </a:p>
        </p:txBody>
      </p:sp>
      <p:sp>
        <p:nvSpPr>
          <p:cNvPr id="4" name="Slide Number Placeholder 3">
            <a:extLst>
              <a:ext uri="{FF2B5EF4-FFF2-40B4-BE49-F238E27FC236}">
                <a16:creationId xmlns:a16="http://schemas.microsoft.com/office/drawing/2014/main" id="{9669E8BF-B9E8-CC6A-2828-213625C27216}"/>
              </a:ext>
            </a:extLst>
          </p:cNvPr>
          <p:cNvSpPr>
            <a:spLocks noGrp="1"/>
          </p:cNvSpPr>
          <p:nvPr>
            <p:ph type="sldNum" sz="quarter" idx="5"/>
          </p:nvPr>
        </p:nvSpPr>
        <p:spPr/>
        <p:txBody>
          <a:bodyPr/>
          <a:lstStyle/>
          <a:p>
            <a:fld id="{CF1963E9-DFCA-4928-813C-A5344C7ACC22}" type="slidenum">
              <a:rPr lang="en-US" smtClean="0"/>
              <a:t>13</a:t>
            </a:fld>
            <a:endParaRPr lang="en-US"/>
          </a:p>
        </p:txBody>
      </p:sp>
    </p:spTree>
    <p:extLst>
      <p:ext uri="{BB962C8B-B14F-4D97-AF65-F5344CB8AC3E}">
        <p14:creationId xmlns:p14="http://schemas.microsoft.com/office/powerpoint/2010/main" val="4093999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15545-2C0F-5074-D712-1B7A23B6B2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6189DEE-654F-D331-70D7-E4E3F39A74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806180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A5E68-AC95-DD9C-B31F-272D0CC7C7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11C697-7212-1C1E-EC5C-431508282F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48152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9F9B8-B137-360F-6702-9CD837DF522E}"/>
              </a:ext>
            </a:extLst>
          </p:cNvPr>
          <p:cNvSpPr>
            <a:spLocks noGrp="1"/>
          </p:cNvSpPr>
          <p:nvPr>
            <p:ph type="title"/>
          </p:nvPr>
        </p:nvSpPr>
        <p:spPr>
          <a:xfrm>
            <a:off x="831850" y="605483"/>
            <a:ext cx="10515600" cy="2681413"/>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B3C69BD-2761-0D6E-28A1-23F1B7B4B059}"/>
              </a:ext>
            </a:extLst>
          </p:cNvPr>
          <p:cNvSpPr>
            <a:spLocks noGrp="1"/>
          </p:cNvSpPr>
          <p:nvPr>
            <p:ph type="body" idx="1"/>
          </p:nvPr>
        </p:nvSpPr>
        <p:spPr>
          <a:xfrm>
            <a:off x="838200" y="3286896"/>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946252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C3A42-BAD6-5753-C109-E893B222B5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B56F24-AA0D-29B5-78BE-172794B4C7EB}"/>
              </a:ext>
            </a:extLst>
          </p:cNvPr>
          <p:cNvSpPr>
            <a:spLocks noGrp="1"/>
          </p:cNvSpPr>
          <p:nvPr>
            <p:ph sz="half" idx="1"/>
          </p:nvPr>
        </p:nvSpPr>
        <p:spPr>
          <a:xfrm>
            <a:off x="838200" y="1825625"/>
            <a:ext cx="5181600" cy="3722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A04557-FDF6-2469-844B-E11BAC2B1869}"/>
              </a:ext>
            </a:extLst>
          </p:cNvPr>
          <p:cNvSpPr>
            <a:spLocks noGrp="1"/>
          </p:cNvSpPr>
          <p:nvPr>
            <p:ph sz="half" idx="2"/>
          </p:nvPr>
        </p:nvSpPr>
        <p:spPr>
          <a:xfrm>
            <a:off x="6172200" y="1825625"/>
            <a:ext cx="5181600" cy="3722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8012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93FB2-4AF6-957E-4C94-482D7FFD9D8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F0DA5D-C6AB-FADF-9CDE-A540EF2839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80DFD2-FB6A-83EC-5296-E43BB1B8D90E}"/>
              </a:ext>
            </a:extLst>
          </p:cNvPr>
          <p:cNvSpPr>
            <a:spLocks noGrp="1"/>
          </p:cNvSpPr>
          <p:nvPr>
            <p:ph sz="half" idx="2"/>
          </p:nvPr>
        </p:nvSpPr>
        <p:spPr>
          <a:xfrm>
            <a:off x="839788" y="2505075"/>
            <a:ext cx="5157787" cy="3067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2243BF-7B77-E413-A82C-7695BE840E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91224F-8240-6F09-EB76-EF185C7CD5A0}"/>
              </a:ext>
            </a:extLst>
          </p:cNvPr>
          <p:cNvSpPr>
            <a:spLocks noGrp="1"/>
          </p:cNvSpPr>
          <p:nvPr>
            <p:ph sz="quarter" idx="4"/>
          </p:nvPr>
        </p:nvSpPr>
        <p:spPr>
          <a:xfrm>
            <a:off x="6172200" y="2505075"/>
            <a:ext cx="5183188" cy="3067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9653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1493B-60C5-0BB7-0EC1-BD4CB8EE7BB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06338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46724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9D8C3-1C31-CC79-6D0C-03F559FA52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DBD1370-0B64-0AED-1533-4D6082ADF2C7}"/>
              </a:ext>
            </a:extLst>
          </p:cNvPr>
          <p:cNvSpPr>
            <a:spLocks noGrp="1"/>
          </p:cNvSpPr>
          <p:nvPr>
            <p:ph idx="1"/>
          </p:nvPr>
        </p:nvSpPr>
        <p:spPr>
          <a:xfrm>
            <a:off x="5183188" y="987426"/>
            <a:ext cx="6172200" cy="45484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8D2629-6A4D-A5EC-20D5-F96B6D28B236}"/>
              </a:ext>
            </a:extLst>
          </p:cNvPr>
          <p:cNvSpPr>
            <a:spLocks noGrp="1"/>
          </p:cNvSpPr>
          <p:nvPr>
            <p:ph type="body" sz="half" idx="2"/>
          </p:nvPr>
        </p:nvSpPr>
        <p:spPr>
          <a:xfrm>
            <a:off x="839788" y="2057400"/>
            <a:ext cx="3932237" cy="347842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85521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7D52A-0ED6-3213-DDA5-16F40AB82E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03F7D9-7689-485C-2795-824B96F5D197}"/>
              </a:ext>
            </a:extLst>
          </p:cNvPr>
          <p:cNvSpPr>
            <a:spLocks noGrp="1"/>
          </p:cNvSpPr>
          <p:nvPr>
            <p:ph type="pic" idx="1"/>
          </p:nvPr>
        </p:nvSpPr>
        <p:spPr>
          <a:xfrm>
            <a:off x="5183188" y="987426"/>
            <a:ext cx="6172200" cy="451133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E701FFE-7EFF-6F89-D719-EF570065CEB9}"/>
              </a:ext>
            </a:extLst>
          </p:cNvPr>
          <p:cNvSpPr>
            <a:spLocks noGrp="1"/>
          </p:cNvSpPr>
          <p:nvPr>
            <p:ph type="body" sz="half" idx="2"/>
          </p:nvPr>
        </p:nvSpPr>
        <p:spPr>
          <a:xfrm>
            <a:off x="839788" y="2057400"/>
            <a:ext cx="3932237" cy="344135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757751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4CC63A-5556-B9FB-536A-543C307F12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F532008-603C-9A0E-EDA4-D1FE3A106A2A}"/>
              </a:ext>
            </a:extLst>
          </p:cNvPr>
          <p:cNvSpPr>
            <a:spLocks noGrp="1"/>
          </p:cNvSpPr>
          <p:nvPr>
            <p:ph type="body" idx="1"/>
          </p:nvPr>
        </p:nvSpPr>
        <p:spPr>
          <a:xfrm>
            <a:off x="838200" y="1825625"/>
            <a:ext cx="10515600" cy="36484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1101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Ukrainian tanks move into the city, after Russian President Vladimir Putin authorized military operation in eastern Ukraine, in Mariupol">
            <a:extLst>
              <a:ext uri="{FF2B5EF4-FFF2-40B4-BE49-F238E27FC236}">
                <a16:creationId xmlns:a16="http://schemas.microsoft.com/office/drawing/2014/main" id="{596A573D-755F-3A64-C502-AB75E97597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250" y="12700"/>
            <a:ext cx="8216900" cy="547793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4E483639-7B0E-7B38-81CB-670D030CFF36}"/>
              </a:ext>
            </a:extLst>
          </p:cNvPr>
          <p:cNvSpPr/>
          <p:nvPr/>
        </p:nvSpPr>
        <p:spPr>
          <a:xfrm>
            <a:off x="1701800" y="-6350"/>
            <a:ext cx="10890250" cy="5556250"/>
          </a:xfrm>
          <a:prstGeom prst="roundRect">
            <a:avLst/>
          </a:prstGeom>
          <a:gradFill flip="none" rotWithShape="1">
            <a:gsLst>
              <a:gs pos="0">
                <a:schemeClr val="bg1"/>
              </a:gs>
              <a:gs pos="46000">
                <a:schemeClr val="bg1">
                  <a:alpha val="35000"/>
                </a:schemeClr>
              </a:gs>
              <a:gs pos="76000">
                <a:schemeClr val="bg1">
                  <a:alpha val="0"/>
                </a:schemeClr>
              </a:gs>
              <a:gs pos="21000">
                <a:schemeClr val="bg1"/>
              </a:gs>
            </a:gsLst>
            <a:lin ang="0" scaled="0"/>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6">
            <a:extLst>
              <a:ext uri="{FF2B5EF4-FFF2-40B4-BE49-F238E27FC236}">
                <a16:creationId xmlns:a16="http://schemas.microsoft.com/office/drawing/2014/main" id="{22DEE518-764D-348D-8832-79DB367655CA}"/>
              </a:ext>
            </a:extLst>
          </p:cNvPr>
          <p:cNvSpPr>
            <a:spLocks noGrp="1"/>
          </p:cNvSpPr>
          <p:nvPr>
            <p:ph type="ctrTitle"/>
          </p:nvPr>
        </p:nvSpPr>
        <p:spPr>
          <a:xfrm>
            <a:off x="952229" y="920749"/>
            <a:ext cx="3734072" cy="2613025"/>
          </a:xfrm>
          <a:noFill/>
        </p:spPr>
        <p:txBody>
          <a:bodyPr>
            <a:normAutofit fontScale="90000"/>
          </a:bodyPr>
          <a:lstStyle/>
          <a:p>
            <a:pPr algn="l"/>
            <a:r>
              <a:rPr lang="en-US" sz="5300" dirty="0"/>
              <a:t>The Signaling Gap:</a:t>
            </a:r>
            <a:br>
              <a:rPr lang="en-US" sz="3300" dirty="0"/>
            </a:br>
            <a:r>
              <a:rPr lang="en-US" sz="2400" dirty="0">
                <a:solidFill>
                  <a:schemeClr val="bg1">
                    <a:lumMod val="50000"/>
                  </a:schemeClr>
                </a:solidFill>
              </a:rPr>
              <a:t>State-Owned Media and the Strategic Management of Sentiment during the Russian Invasion of Ukraine</a:t>
            </a:r>
            <a:endParaRPr lang="en-US" sz="3300" dirty="0">
              <a:solidFill>
                <a:schemeClr val="bg1">
                  <a:lumMod val="50000"/>
                </a:schemeClr>
              </a:solidFill>
            </a:endParaRPr>
          </a:p>
        </p:txBody>
      </p:sp>
      <p:sp>
        <p:nvSpPr>
          <p:cNvPr id="6" name="Subtitle 7">
            <a:extLst>
              <a:ext uri="{FF2B5EF4-FFF2-40B4-BE49-F238E27FC236}">
                <a16:creationId xmlns:a16="http://schemas.microsoft.com/office/drawing/2014/main" id="{08630085-1B3E-2CC6-251C-BB5C348CB1AB}"/>
              </a:ext>
            </a:extLst>
          </p:cNvPr>
          <p:cNvSpPr>
            <a:spLocks noGrp="1"/>
          </p:cNvSpPr>
          <p:nvPr>
            <p:ph type="subTitle" idx="1"/>
          </p:nvPr>
        </p:nvSpPr>
        <p:spPr>
          <a:xfrm>
            <a:off x="952229" y="3727534"/>
            <a:ext cx="3973386" cy="1485319"/>
          </a:xfrm>
          <a:noFill/>
        </p:spPr>
        <p:txBody>
          <a:bodyPr>
            <a:normAutofit/>
          </a:bodyPr>
          <a:lstStyle/>
          <a:p>
            <a:pPr algn="l"/>
            <a:r>
              <a:rPr lang="en-US" dirty="0"/>
              <a:t>Donald Moratz</a:t>
            </a:r>
          </a:p>
          <a:p>
            <a:pPr algn="l"/>
            <a:r>
              <a:rPr lang="en-US" dirty="0"/>
              <a:t>Political Science</a:t>
            </a:r>
          </a:p>
          <a:p>
            <a:pPr algn="l"/>
            <a:endParaRPr lang="en-US" dirty="0"/>
          </a:p>
        </p:txBody>
      </p:sp>
      <p:sp>
        <p:nvSpPr>
          <p:cNvPr id="7" name="TextBox 6">
            <a:extLst>
              <a:ext uri="{FF2B5EF4-FFF2-40B4-BE49-F238E27FC236}">
                <a16:creationId xmlns:a16="http://schemas.microsoft.com/office/drawing/2014/main" id="{743C9226-A76F-C77B-B426-3DC9A96ACBC1}"/>
              </a:ext>
            </a:extLst>
          </p:cNvPr>
          <p:cNvSpPr txBox="1"/>
          <p:nvPr/>
        </p:nvSpPr>
        <p:spPr>
          <a:xfrm>
            <a:off x="8993557" y="5435600"/>
            <a:ext cx="2882520" cy="246221"/>
          </a:xfrm>
          <a:prstGeom prst="rect">
            <a:avLst/>
          </a:prstGeom>
          <a:noFill/>
        </p:spPr>
        <p:txBody>
          <a:bodyPr wrap="none" rtlCol="0">
            <a:spAutoFit/>
          </a:bodyPr>
          <a:lstStyle/>
          <a:p>
            <a:r>
              <a:rPr lang="en-US" sz="1000" dirty="0">
                <a:solidFill>
                  <a:schemeClr val="bg1">
                    <a:lumMod val="50000"/>
                  </a:schemeClr>
                </a:solidFill>
              </a:rPr>
              <a:t>Photo: REUTERS/Carlos Barria February 24, 2022</a:t>
            </a:r>
          </a:p>
        </p:txBody>
      </p:sp>
    </p:spTree>
    <p:extLst>
      <p:ext uri="{BB962C8B-B14F-4D97-AF65-F5344CB8AC3E}">
        <p14:creationId xmlns:p14="http://schemas.microsoft.com/office/powerpoint/2010/main" val="1891822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3F541-1368-449C-F099-825B89520CAE}"/>
              </a:ext>
            </a:extLst>
          </p:cNvPr>
          <p:cNvSpPr>
            <a:spLocks noGrp="1"/>
          </p:cNvSpPr>
          <p:nvPr>
            <p:ph type="title"/>
          </p:nvPr>
        </p:nvSpPr>
        <p:spPr/>
        <p:txBody>
          <a:bodyPr/>
          <a:lstStyle/>
          <a:p>
            <a:r>
              <a:rPr lang="en-US" dirty="0"/>
              <a:t>The Bind</a:t>
            </a:r>
          </a:p>
        </p:txBody>
      </p:sp>
      <p:sp>
        <p:nvSpPr>
          <p:cNvPr id="3" name="Content Placeholder 2">
            <a:extLst>
              <a:ext uri="{FF2B5EF4-FFF2-40B4-BE49-F238E27FC236}">
                <a16:creationId xmlns:a16="http://schemas.microsoft.com/office/drawing/2014/main" id="{46927F55-A018-DC69-9363-46F5CF061DB7}"/>
              </a:ext>
            </a:extLst>
          </p:cNvPr>
          <p:cNvSpPr>
            <a:spLocks noGrp="1"/>
          </p:cNvSpPr>
          <p:nvPr>
            <p:ph idx="1"/>
          </p:nvPr>
        </p:nvSpPr>
        <p:spPr>
          <a:xfrm>
            <a:off x="838200" y="1825625"/>
            <a:ext cx="4473502" cy="3648418"/>
          </a:xfrm>
        </p:spPr>
        <p:txBody>
          <a:bodyPr/>
          <a:lstStyle/>
          <a:p>
            <a:pPr marL="0" indent="0">
              <a:buNone/>
            </a:pPr>
            <a:r>
              <a:rPr lang="en-US" dirty="0"/>
              <a:t>Your treaty ally just invaded a sovereign state.</a:t>
            </a:r>
          </a:p>
          <a:p>
            <a:pPr marL="0" indent="0">
              <a:buNone/>
            </a:pPr>
            <a:r>
              <a:rPr lang="en-US" dirty="0"/>
              <a:t>You can't condemn them — they guarantee your security.</a:t>
            </a:r>
          </a:p>
          <a:p>
            <a:pPr marL="0" indent="0">
              <a:buNone/>
            </a:pPr>
            <a:r>
              <a:rPr lang="en-US" dirty="0"/>
              <a:t>You can't stay silent — the West is watching.</a:t>
            </a:r>
          </a:p>
        </p:txBody>
      </p:sp>
      <p:pic>
        <p:nvPicPr>
          <p:cNvPr id="5" name="Picture 2" descr="Security Council votes on draft resolution on Ukraine, 25 February 2022.">
            <a:extLst>
              <a:ext uri="{FF2B5EF4-FFF2-40B4-BE49-F238E27FC236}">
                <a16:creationId xmlns:a16="http://schemas.microsoft.com/office/drawing/2014/main" id="{A3E473C5-CBC4-477A-C327-6254316454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0675" r="30458"/>
          <a:stretch>
            <a:fillRect/>
          </a:stretch>
        </p:blipFill>
        <p:spPr bwMode="auto">
          <a:xfrm>
            <a:off x="5311702" y="10"/>
            <a:ext cx="6878775" cy="578484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82BD858-B84E-0EFA-0E21-631A12E11DB6}"/>
              </a:ext>
            </a:extLst>
          </p:cNvPr>
          <p:cNvSpPr txBox="1"/>
          <p:nvPr/>
        </p:nvSpPr>
        <p:spPr>
          <a:xfrm>
            <a:off x="9304707" y="5740400"/>
            <a:ext cx="2864887" cy="246221"/>
          </a:xfrm>
          <a:prstGeom prst="rect">
            <a:avLst/>
          </a:prstGeom>
          <a:noFill/>
        </p:spPr>
        <p:txBody>
          <a:bodyPr wrap="none" rtlCol="0">
            <a:spAutoFit/>
          </a:bodyPr>
          <a:lstStyle/>
          <a:p>
            <a:r>
              <a:rPr lang="en-US" sz="1000" dirty="0">
                <a:solidFill>
                  <a:schemeClr val="bg1">
                    <a:lumMod val="50000"/>
                  </a:schemeClr>
                </a:solidFill>
              </a:rPr>
              <a:t>Photo: UN Photo/Mark Garten February, 25 2022</a:t>
            </a:r>
          </a:p>
        </p:txBody>
      </p:sp>
    </p:spTree>
    <p:extLst>
      <p:ext uri="{BB962C8B-B14F-4D97-AF65-F5344CB8AC3E}">
        <p14:creationId xmlns:p14="http://schemas.microsoft.com/office/powerpoint/2010/main" val="627106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3F541-1368-449C-F099-825B89520CAE}"/>
              </a:ext>
            </a:extLst>
          </p:cNvPr>
          <p:cNvSpPr>
            <a:spLocks noGrp="1"/>
          </p:cNvSpPr>
          <p:nvPr>
            <p:ph type="title"/>
          </p:nvPr>
        </p:nvSpPr>
        <p:spPr/>
        <p:txBody>
          <a:bodyPr/>
          <a:lstStyle/>
          <a:p>
            <a:r>
              <a:rPr lang="en-US" dirty="0"/>
              <a:t>The Hidden Channel</a:t>
            </a:r>
          </a:p>
        </p:txBody>
      </p:sp>
      <p:cxnSp>
        <p:nvCxnSpPr>
          <p:cNvPr id="5" name="Straight Arrow Connector 4">
            <a:extLst>
              <a:ext uri="{FF2B5EF4-FFF2-40B4-BE49-F238E27FC236}">
                <a16:creationId xmlns:a16="http://schemas.microsoft.com/office/drawing/2014/main" id="{EA0E07CB-C05D-4DE3-2651-93F23941D988}"/>
              </a:ext>
            </a:extLst>
          </p:cNvPr>
          <p:cNvCxnSpPr/>
          <p:nvPr/>
        </p:nvCxnSpPr>
        <p:spPr>
          <a:xfrm flipV="1">
            <a:off x="698500" y="2597150"/>
            <a:ext cx="10881360" cy="0"/>
          </a:xfrm>
          <a:prstGeom prst="straightConnector1">
            <a:avLst/>
          </a:prstGeom>
          <a:ln w="25400">
            <a:solidFill>
              <a:schemeClr val="accent1">
                <a:lumMod val="75000"/>
              </a:schemeClr>
            </a:solidFill>
            <a:tailEnd type="triangle"/>
          </a:ln>
        </p:spPr>
        <p:style>
          <a:lnRef idx="3">
            <a:schemeClr val="accent1"/>
          </a:lnRef>
          <a:fillRef idx="0">
            <a:schemeClr val="accent1"/>
          </a:fillRef>
          <a:effectRef idx="2">
            <a:schemeClr val="accent1"/>
          </a:effectRef>
          <a:fontRef idx="minor">
            <a:schemeClr val="tx1"/>
          </a:fontRef>
        </p:style>
      </p:cxnSp>
      <p:sp>
        <p:nvSpPr>
          <p:cNvPr id="6" name="Oval 5">
            <a:extLst>
              <a:ext uri="{FF2B5EF4-FFF2-40B4-BE49-F238E27FC236}">
                <a16:creationId xmlns:a16="http://schemas.microsoft.com/office/drawing/2014/main" id="{8F347743-6E3F-3427-1FA7-4BB382829FAD}"/>
              </a:ext>
            </a:extLst>
          </p:cNvPr>
          <p:cNvSpPr/>
          <p:nvPr/>
        </p:nvSpPr>
        <p:spPr>
          <a:xfrm>
            <a:off x="1485900" y="2470150"/>
            <a:ext cx="266700" cy="266700"/>
          </a:xfrm>
          <a:prstGeom prst="ellipse">
            <a:avLst/>
          </a:prstGeom>
          <a:solidFill>
            <a:schemeClr val="accent1">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6CF4B77-E5B3-B824-6B24-0E15B4A8070E}"/>
              </a:ext>
            </a:extLst>
          </p:cNvPr>
          <p:cNvSpPr txBox="1"/>
          <p:nvPr/>
        </p:nvSpPr>
        <p:spPr>
          <a:xfrm>
            <a:off x="1257300" y="2044700"/>
            <a:ext cx="720262" cy="369332"/>
          </a:xfrm>
          <a:prstGeom prst="rect">
            <a:avLst/>
          </a:prstGeom>
          <a:noFill/>
        </p:spPr>
        <p:txBody>
          <a:bodyPr wrap="none" rtlCol="0">
            <a:spAutoFit/>
          </a:bodyPr>
          <a:lstStyle/>
          <a:p>
            <a:r>
              <a:rPr lang="en-US" dirty="0"/>
              <a:t>1939</a:t>
            </a:r>
          </a:p>
        </p:txBody>
      </p:sp>
      <p:sp>
        <p:nvSpPr>
          <p:cNvPr id="8" name="TextBox 7">
            <a:extLst>
              <a:ext uri="{FF2B5EF4-FFF2-40B4-BE49-F238E27FC236}">
                <a16:creationId xmlns:a16="http://schemas.microsoft.com/office/drawing/2014/main" id="{1502D6CC-A97E-86A0-D9A9-98F0B8F1E3E6}"/>
              </a:ext>
            </a:extLst>
          </p:cNvPr>
          <p:cNvSpPr txBox="1"/>
          <p:nvPr/>
        </p:nvSpPr>
        <p:spPr>
          <a:xfrm>
            <a:off x="749300" y="2870200"/>
            <a:ext cx="1752146" cy="646331"/>
          </a:xfrm>
          <a:prstGeom prst="rect">
            <a:avLst/>
          </a:prstGeom>
          <a:noFill/>
        </p:spPr>
        <p:txBody>
          <a:bodyPr wrap="none" rtlCol="0">
            <a:spAutoFit/>
          </a:bodyPr>
          <a:lstStyle/>
          <a:p>
            <a:pPr algn="ctr"/>
            <a:r>
              <a:rPr lang="en-US" dirty="0"/>
              <a:t>BBC Monitoring </a:t>
            </a:r>
          </a:p>
          <a:p>
            <a:pPr algn="ctr"/>
            <a:r>
              <a:rPr lang="en-US" dirty="0"/>
              <a:t>Established</a:t>
            </a:r>
          </a:p>
        </p:txBody>
      </p:sp>
      <p:sp>
        <p:nvSpPr>
          <p:cNvPr id="9" name="Oval 8">
            <a:extLst>
              <a:ext uri="{FF2B5EF4-FFF2-40B4-BE49-F238E27FC236}">
                <a16:creationId xmlns:a16="http://schemas.microsoft.com/office/drawing/2014/main" id="{37D5A32F-7D29-F250-72D6-371B8EAF6CBF}"/>
              </a:ext>
            </a:extLst>
          </p:cNvPr>
          <p:cNvSpPr/>
          <p:nvPr/>
        </p:nvSpPr>
        <p:spPr>
          <a:xfrm>
            <a:off x="4305300" y="2470150"/>
            <a:ext cx="266700" cy="266700"/>
          </a:xfrm>
          <a:prstGeom prst="ellipse">
            <a:avLst/>
          </a:prstGeom>
          <a:solidFill>
            <a:schemeClr val="accent1">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BE7D04B-6E44-F5D4-8B19-013489C130A6}"/>
              </a:ext>
            </a:extLst>
          </p:cNvPr>
          <p:cNvSpPr txBox="1"/>
          <p:nvPr/>
        </p:nvSpPr>
        <p:spPr>
          <a:xfrm>
            <a:off x="4076700" y="2044700"/>
            <a:ext cx="703654" cy="369332"/>
          </a:xfrm>
          <a:prstGeom prst="rect">
            <a:avLst/>
          </a:prstGeom>
          <a:noFill/>
        </p:spPr>
        <p:txBody>
          <a:bodyPr wrap="none" rtlCol="0">
            <a:spAutoFit/>
          </a:bodyPr>
          <a:lstStyle/>
          <a:p>
            <a:r>
              <a:rPr lang="en-US" dirty="0"/>
              <a:t>1941</a:t>
            </a:r>
          </a:p>
        </p:txBody>
      </p:sp>
      <p:sp>
        <p:nvSpPr>
          <p:cNvPr id="11" name="TextBox 10">
            <a:extLst>
              <a:ext uri="{FF2B5EF4-FFF2-40B4-BE49-F238E27FC236}">
                <a16:creationId xmlns:a16="http://schemas.microsoft.com/office/drawing/2014/main" id="{397A8E1B-3418-4882-9FC2-2CE3FD3DE088}"/>
              </a:ext>
            </a:extLst>
          </p:cNvPr>
          <p:cNvSpPr txBox="1"/>
          <p:nvPr/>
        </p:nvSpPr>
        <p:spPr>
          <a:xfrm>
            <a:off x="3785781" y="2870200"/>
            <a:ext cx="1317990" cy="646331"/>
          </a:xfrm>
          <a:prstGeom prst="rect">
            <a:avLst/>
          </a:prstGeom>
          <a:noFill/>
        </p:spPr>
        <p:txBody>
          <a:bodyPr wrap="none" rtlCol="0">
            <a:spAutoFit/>
          </a:bodyPr>
          <a:lstStyle/>
          <a:p>
            <a:pPr algn="ctr"/>
            <a:r>
              <a:rPr lang="en-US" dirty="0"/>
              <a:t>U.S. FBIS</a:t>
            </a:r>
          </a:p>
          <a:p>
            <a:pPr algn="ctr"/>
            <a:r>
              <a:rPr lang="en-US" dirty="0"/>
              <a:t>Established</a:t>
            </a:r>
          </a:p>
        </p:txBody>
      </p:sp>
      <p:sp>
        <p:nvSpPr>
          <p:cNvPr id="12" name="Oval 11">
            <a:extLst>
              <a:ext uri="{FF2B5EF4-FFF2-40B4-BE49-F238E27FC236}">
                <a16:creationId xmlns:a16="http://schemas.microsoft.com/office/drawing/2014/main" id="{B1BDACAD-2B42-0E83-1234-226B4EF05EC4}"/>
              </a:ext>
            </a:extLst>
          </p:cNvPr>
          <p:cNvSpPr/>
          <p:nvPr/>
        </p:nvSpPr>
        <p:spPr>
          <a:xfrm>
            <a:off x="7334250" y="2470150"/>
            <a:ext cx="266700" cy="266700"/>
          </a:xfrm>
          <a:prstGeom prst="ellipse">
            <a:avLst/>
          </a:prstGeom>
          <a:solidFill>
            <a:schemeClr val="accent1">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0855DF8-49EC-A04D-0DE3-9341DAE9CC86}"/>
              </a:ext>
            </a:extLst>
          </p:cNvPr>
          <p:cNvSpPr txBox="1"/>
          <p:nvPr/>
        </p:nvSpPr>
        <p:spPr>
          <a:xfrm>
            <a:off x="6934200" y="2044700"/>
            <a:ext cx="1053943" cy="369332"/>
          </a:xfrm>
          <a:prstGeom prst="rect">
            <a:avLst/>
          </a:prstGeom>
          <a:noFill/>
        </p:spPr>
        <p:txBody>
          <a:bodyPr wrap="none" rtlCol="0">
            <a:spAutoFit/>
          </a:bodyPr>
          <a:lstStyle/>
          <a:p>
            <a:r>
              <a:rPr lang="en-US" dirty="0"/>
              <a:t>Cold War</a:t>
            </a:r>
          </a:p>
        </p:txBody>
      </p:sp>
      <p:sp>
        <p:nvSpPr>
          <p:cNvPr id="14" name="TextBox 13">
            <a:extLst>
              <a:ext uri="{FF2B5EF4-FFF2-40B4-BE49-F238E27FC236}">
                <a16:creationId xmlns:a16="http://schemas.microsoft.com/office/drawing/2014/main" id="{25DD1E2E-6149-7E2C-B1A9-3055933701EF}"/>
              </a:ext>
            </a:extLst>
          </p:cNvPr>
          <p:cNvSpPr txBox="1"/>
          <p:nvPr/>
        </p:nvSpPr>
        <p:spPr>
          <a:xfrm>
            <a:off x="6721761" y="2870200"/>
            <a:ext cx="1503938" cy="646331"/>
          </a:xfrm>
          <a:prstGeom prst="rect">
            <a:avLst/>
          </a:prstGeom>
          <a:noFill/>
        </p:spPr>
        <p:txBody>
          <a:bodyPr wrap="none" rtlCol="0">
            <a:spAutoFit/>
          </a:bodyPr>
          <a:lstStyle/>
          <a:p>
            <a:pPr algn="ctr"/>
            <a:r>
              <a:rPr lang="en-US" dirty="0"/>
              <a:t>Kremlinology </a:t>
            </a:r>
          </a:p>
          <a:p>
            <a:pPr algn="ctr"/>
            <a:r>
              <a:rPr lang="en-US" dirty="0"/>
              <a:t>Tradition </a:t>
            </a:r>
          </a:p>
        </p:txBody>
      </p:sp>
      <p:sp>
        <p:nvSpPr>
          <p:cNvPr id="15" name="Oval 14">
            <a:extLst>
              <a:ext uri="{FF2B5EF4-FFF2-40B4-BE49-F238E27FC236}">
                <a16:creationId xmlns:a16="http://schemas.microsoft.com/office/drawing/2014/main" id="{31408E9A-19BC-B138-4F7F-9EC893555297}"/>
              </a:ext>
            </a:extLst>
          </p:cNvPr>
          <p:cNvSpPr/>
          <p:nvPr/>
        </p:nvSpPr>
        <p:spPr>
          <a:xfrm>
            <a:off x="10629900" y="2470150"/>
            <a:ext cx="266700" cy="266700"/>
          </a:xfrm>
          <a:prstGeom prst="ellipse">
            <a:avLst/>
          </a:prstGeom>
          <a:solidFill>
            <a:schemeClr val="accent1">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84C13CB-D33E-277C-C20C-7F08EB57B07E}"/>
              </a:ext>
            </a:extLst>
          </p:cNvPr>
          <p:cNvSpPr txBox="1"/>
          <p:nvPr/>
        </p:nvSpPr>
        <p:spPr>
          <a:xfrm>
            <a:off x="10401300" y="2044700"/>
            <a:ext cx="713144" cy="369332"/>
          </a:xfrm>
          <a:prstGeom prst="rect">
            <a:avLst/>
          </a:prstGeom>
          <a:noFill/>
        </p:spPr>
        <p:txBody>
          <a:bodyPr wrap="none" rtlCol="0">
            <a:spAutoFit/>
          </a:bodyPr>
          <a:lstStyle/>
          <a:p>
            <a:r>
              <a:rPr lang="en-US" dirty="0"/>
              <a:t>2024</a:t>
            </a:r>
          </a:p>
        </p:txBody>
      </p:sp>
      <p:sp>
        <p:nvSpPr>
          <p:cNvPr id="17" name="TextBox 16">
            <a:extLst>
              <a:ext uri="{FF2B5EF4-FFF2-40B4-BE49-F238E27FC236}">
                <a16:creationId xmlns:a16="http://schemas.microsoft.com/office/drawing/2014/main" id="{0F3F571B-E87C-EF68-A69D-7BD0C575F96A}"/>
              </a:ext>
            </a:extLst>
          </p:cNvPr>
          <p:cNvSpPr txBox="1"/>
          <p:nvPr/>
        </p:nvSpPr>
        <p:spPr>
          <a:xfrm>
            <a:off x="10032155" y="2870200"/>
            <a:ext cx="1474443" cy="646331"/>
          </a:xfrm>
          <a:prstGeom prst="rect">
            <a:avLst/>
          </a:prstGeom>
          <a:noFill/>
        </p:spPr>
        <p:txBody>
          <a:bodyPr wrap="none" rtlCol="0">
            <a:spAutoFit/>
          </a:bodyPr>
          <a:lstStyle/>
          <a:p>
            <a:pPr algn="ctr"/>
            <a:r>
              <a:rPr lang="en-US" dirty="0"/>
              <a:t>U.S. IC OSINT</a:t>
            </a:r>
          </a:p>
          <a:p>
            <a:pPr algn="ctr"/>
            <a:r>
              <a:rPr lang="en-US" dirty="0"/>
              <a:t>Strategy</a:t>
            </a:r>
          </a:p>
        </p:txBody>
      </p:sp>
      <p:sp>
        <p:nvSpPr>
          <p:cNvPr id="20" name="Content Placeholder 2">
            <a:extLst>
              <a:ext uri="{FF2B5EF4-FFF2-40B4-BE49-F238E27FC236}">
                <a16:creationId xmlns:a16="http://schemas.microsoft.com/office/drawing/2014/main" id="{000A8081-E9A9-33AA-6520-8B6F8E1A95D9}"/>
              </a:ext>
            </a:extLst>
          </p:cNvPr>
          <p:cNvSpPr>
            <a:spLocks noGrp="1"/>
          </p:cNvSpPr>
          <p:nvPr>
            <p:ph idx="1"/>
          </p:nvPr>
        </p:nvSpPr>
        <p:spPr>
          <a:xfrm>
            <a:off x="838200" y="4219575"/>
            <a:ext cx="10515600" cy="1044574"/>
          </a:xfrm>
        </p:spPr>
        <p:txBody>
          <a:bodyPr/>
          <a:lstStyle/>
          <a:p>
            <a:pPr marL="0" indent="0">
              <a:buNone/>
            </a:pPr>
            <a:r>
              <a:rPr lang="en-US" dirty="0"/>
              <a:t>We think state media is for the masses. The CIA thinks it's for them.</a:t>
            </a:r>
          </a:p>
        </p:txBody>
      </p:sp>
    </p:spTree>
    <p:extLst>
      <p:ext uri="{BB962C8B-B14F-4D97-AF65-F5344CB8AC3E}">
        <p14:creationId xmlns:p14="http://schemas.microsoft.com/office/powerpoint/2010/main" val="2611501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C75B8-ACD5-1CAD-B30C-0D46DDB0106D}"/>
              </a:ext>
            </a:extLst>
          </p:cNvPr>
          <p:cNvSpPr>
            <a:spLocks noGrp="1"/>
          </p:cNvSpPr>
          <p:nvPr>
            <p:ph type="title"/>
          </p:nvPr>
        </p:nvSpPr>
        <p:spPr/>
        <p:txBody>
          <a:bodyPr/>
          <a:lstStyle/>
          <a:p>
            <a:r>
              <a:rPr lang="en-US" dirty="0"/>
              <a:t>The Gap</a:t>
            </a:r>
          </a:p>
        </p:txBody>
      </p:sp>
      <p:sp>
        <p:nvSpPr>
          <p:cNvPr id="3" name="Text Placeholder 2">
            <a:extLst>
              <a:ext uri="{FF2B5EF4-FFF2-40B4-BE49-F238E27FC236}">
                <a16:creationId xmlns:a16="http://schemas.microsoft.com/office/drawing/2014/main" id="{60FC9F8B-084B-7906-A1D9-9268A0DD79A4}"/>
              </a:ext>
            </a:extLst>
          </p:cNvPr>
          <p:cNvSpPr>
            <a:spLocks noGrp="1"/>
          </p:cNvSpPr>
          <p:nvPr>
            <p:ph type="body" idx="1"/>
          </p:nvPr>
        </p:nvSpPr>
        <p:spPr/>
        <p:txBody>
          <a:bodyPr>
            <a:normAutofit/>
          </a:bodyPr>
          <a:lstStyle/>
          <a:p>
            <a:r>
              <a:rPr lang="en-US" sz="3200" dirty="0"/>
              <a:t>Academics</a:t>
            </a:r>
          </a:p>
        </p:txBody>
      </p:sp>
      <p:sp>
        <p:nvSpPr>
          <p:cNvPr id="4" name="Content Placeholder 3">
            <a:extLst>
              <a:ext uri="{FF2B5EF4-FFF2-40B4-BE49-F238E27FC236}">
                <a16:creationId xmlns:a16="http://schemas.microsoft.com/office/drawing/2014/main" id="{32F22191-72C0-4346-89BC-776D9AA0D77E}"/>
              </a:ext>
            </a:extLst>
          </p:cNvPr>
          <p:cNvSpPr>
            <a:spLocks noGrp="1"/>
          </p:cNvSpPr>
          <p:nvPr>
            <p:ph sz="half" idx="2"/>
          </p:nvPr>
        </p:nvSpPr>
        <p:spPr/>
        <p:txBody>
          <a:bodyPr/>
          <a:lstStyle/>
          <a:p>
            <a:r>
              <a:rPr lang="en-US" dirty="0"/>
              <a:t>Agenda setting &amp; framing</a:t>
            </a:r>
          </a:p>
          <a:p>
            <a:r>
              <a:rPr lang="en-US" dirty="0"/>
              <a:t>Spin dictators &amp; censorship</a:t>
            </a:r>
          </a:p>
          <a:p>
            <a:r>
              <a:rPr lang="en-US" dirty="0"/>
              <a:t>Domestic opinion formation</a:t>
            </a:r>
          </a:p>
        </p:txBody>
      </p:sp>
      <p:sp>
        <p:nvSpPr>
          <p:cNvPr id="5" name="Text Placeholder 4">
            <a:extLst>
              <a:ext uri="{FF2B5EF4-FFF2-40B4-BE49-F238E27FC236}">
                <a16:creationId xmlns:a16="http://schemas.microsoft.com/office/drawing/2014/main" id="{3BCD4679-8A6A-F035-0E7B-4459E03FF6AB}"/>
              </a:ext>
            </a:extLst>
          </p:cNvPr>
          <p:cNvSpPr>
            <a:spLocks noGrp="1"/>
          </p:cNvSpPr>
          <p:nvPr>
            <p:ph type="body" sz="quarter" idx="3"/>
          </p:nvPr>
        </p:nvSpPr>
        <p:spPr/>
        <p:txBody>
          <a:bodyPr>
            <a:normAutofit/>
          </a:bodyPr>
          <a:lstStyle/>
          <a:p>
            <a:r>
              <a:rPr lang="en-US" sz="3200" dirty="0"/>
              <a:t>Practitioners</a:t>
            </a:r>
          </a:p>
        </p:txBody>
      </p:sp>
      <p:sp>
        <p:nvSpPr>
          <p:cNvPr id="6" name="Content Placeholder 5">
            <a:extLst>
              <a:ext uri="{FF2B5EF4-FFF2-40B4-BE49-F238E27FC236}">
                <a16:creationId xmlns:a16="http://schemas.microsoft.com/office/drawing/2014/main" id="{5983FF5A-DAD3-6C5D-2B46-516E60C0E1CB}"/>
              </a:ext>
            </a:extLst>
          </p:cNvPr>
          <p:cNvSpPr>
            <a:spLocks noGrp="1"/>
          </p:cNvSpPr>
          <p:nvPr>
            <p:ph sz="quarter" idx="4"/>
          </p:nvPr>
        </p:nvSpPr>
        <p:spPr/>
        <p:txBody>
          <a:bodyPr/>
          <a:lstStyle/>
          <a:p>
            <a:r>
              <a:rPr lang="en-US" dirty="0"/>
              <a:t>Window into regime preferences</a:t>
            </a:r>
          </a:p>
          <a:p>
            <a:r>
              <a:rPr lang="en-US" dirty="0"/>
              <a:t>Shifts in tone = policy signals</a:t>
            </a:r>
          </a:p>
          <a:p>
            <a:r>
              <a:rPr lang="en-US" dirty="0"/>
              <a:t>80+ years of institutional practice</a:t>
            </a:r>
          </a:p>
        </p:txBody>
      </p:sp>
      <p:cxnSp>
        <p:nvCxnSpPr>
          <p:cNvPr id="10" name="Straight Connector 9">
            <a:extLst>
              <a:ext uri="{FF2B5EF4-FFF2-40B4-BE49-F238E27FC236}">
                <a16:creationId xmlns:a16="http://schemas.microsoft.com/office/drawing/2014/main" id="{FA280A4D-C2F0-0104-6B79-675B9957D8AE}"/>
              </a:ext>
            </a:extLst>
          </p:cNvPr>
          <p:cNvCxnSpPr>
            <a:cxnSpLocks/>
          </p:cNvCxnSpPr>
          <p:nvPr/>
        </p:nvCxnSpPr>
        <p:spPr>
          <a:xfrm>
            <a:off x="5937250" y="1973263"/>
            <a:ext cx="0" cy="2916237"/>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1DD82A8A-7D72-45DA-255F-6C4A5E5DD0D1}"/>
              </a:ext>
            </a:extLst>
          </p:cNvPr>
          <p:cNvSpPr txBox="1">
            <a:spLocks/>
          </p:cNvSpPr>
          <p:nvPr/>
        </p:nvSpPr>
        <p:spPr>
          <a:xfrm>
            <a:off x="838200" y="4670425"/>
            <a:ext cx="10515600" cy="1044574"/>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sz="3200" i="1" dirty="0"/>
              <a:t>We formalize what practitioners have known</a:t>
            </a:r>
          </a:p>
        </p:txBody>
      </p:sp>
    </p:spTree>
    <p:extLst>
      <p:ext uri="{BB962C8B-B14F-4D97-AF65-F5344CB8AC3E}">
        <p14:creationId xmlns:p14="http://schemas.microsoft.com/office/powerpoint/2010/main" val="249775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428CB09-B3C1-E3E8-D8A2-6BCD1A5CEA03}"/>
              </a:ext>
            </a:extLst>
          </p:cNvPr>
          <p:cNvSpPr/>
          <p:nvPr/>
        </p:nvSpPr>
        <p:spPr>
          <a:xfrm>
            <a:off x="633412" y="2279651"/>
            <a:ext cx="3219450" cy="2406648"/>
          </a:xfrm>
          <a:prstGeom prst="roundRect">
            <a:avLst/>
          </a:prstGeom>
          <a:solidFill>
            <a:schemeClr val="bg1">
              <a:lumMod val="65000"/>
              <a:alpha val="50000"/>
            </a:schemeClr>
          </a:solidFill>
          <a:ln>
            <a:solidFill>
              <a:schemeClr val="accent1">
                <a:shade val="1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E43F541-1368-449C-F099-825B89520CAE}"/>
              </a:ext>
            </a:extLst>
          </p:cNvPr>
          <p:cNvSpPr>
            <a:spLocks noGrp="1"/>
          </p:cNvSpPr>
          <p:nvPr>
            <p:ph type="title"/>
          </p:nvPr>
        </p:nvSpPr>
        <p:spPr/>
        <p:txBody>
          <a:bodyPr/>
          <a:lstStyle/>
          <a:p>
            <a:r>
              <a:rPr lang="en-US" dirty="0"/>
              <a:t>Why the Signal Works</a:t>
            </a:r>
          </a:p>
        </p:txBody>
      </p:sp>
      <p:sp>
        <p:nvSpPr>
          <p:cNvPr id="3" name="Content Placeholder 2">
            <a:extLst>
              <a:ext uri="{FF2B5EF4-FFF2-40B4-BE49-F238E27FC236}">
                <a16:creationId xmlns:a16="http://schemas.microsoft.com/office/drawing/2014/main" id="{46927F55-A018-DC69-9363-46F5CF061DB7}"/>
              </a:ext>
            </a:extLst>
          </p:cNvPr>
          <p:cNvSpPr>
            <a:spLocks noGrp="1"/>
          </p:cNvSpPr>
          <p:nvPr>
            <p:ph idx="1"/>
          </p:nvPr>
        </p:nvSpPr>
        <p:spPr>
          <a:xfrm>
            <a:off x="641350" y="2549526"/>
            <a:ext cx="3219450" cy="561974"/>
          </a:xfrm>
        </p:spPr>
        <p:txBody>
          <a:bodyPr>
            <a:normAutofit lnSpcReduction="10000"/>
          </a:bodyPr>
          <a:lstStyle/>
          <a:p>
            <a:pPr marL="0" indent="0" algn="ctr">
              <a:buNone/>
            </a:pPr>
            <a:r>
              <a:rPr lang="en-US" sz="3600" dirty="0">
                <a:solidFill>
                  <a:schemeClr val="accent1">
                    <a:lumMod val="75000"/>
                  </a:schemeClr>
                </a:solidFill>
              </a:rPr>
              <a:t>Readable</a:t>
            </a:r>
          </a:p>
        </p:txBody>
      </p:sp>
      <p:cxnSp>
        <p:nvCxnSpPr>
          <p:cNvPr id="6" name="Straight Connector 5">
            <a:extLst>
              <a:ext uri="{FF2B5EF4-FFF2-40B4-BE49-F238E27FC236}">
                <a16:creationId xmlns:a16="http://schemas.microsoft.com/office/drawing/2014/main" id="{601EDC8D-6F88-9888-D3CC-8392770C5A6F}"/>
              </a:ext>
            </a:extLst>
          </p:cNvPr>
          <p:cNvCxnSpPr>
            <a:cxnSpLocks/>
          </p:cNvCxnSpPr>
          <p:nvPr/>
        </p:nvCxnSpPr>
        <p:spPr>
          <a:xfrm>
            <a:off x="641350" y="3111500"/>
            <a:ext cx="321945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3E9615F1-0C2C-882A-558C-2E5722FD5854}"/>
              </a:ext>
            </a:extLst>
          </p:cNvPr>
          <p:cNvSpPr txBox="1">
            <a:spLocks/>
          </p:cNvSpPr>
          <p:nvPr/>
        </p:nvSpPr>
        <p:spPr>
          <a:xfrm>
            <a:off x="641350" y="3108326"/>
            <a:ext cx="3219450" cy="14954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Everyone knows state media is state-controlled. Deviation is informative.</a:t>
            </a:r>
          </a:p>
        </p:txBody>
      </p:sp>
      <p:sp>
        <p:nvSpPr>
          <p:cNvPr id="8" name="Rectangle: Rounded Corners 7">
            <a:extLst>
              <a:ext uri="{FF2B5EF4-FFF2-40B4-BE49-F238E27FC236}">
                <a16:creationId xmlns:a16="http://schemas.microsoft.com/office/drawing/2014/main" id="{9E9A1574-138E-F30E-F40D-72F11C262129}"/>
              </a:ext>
            </a:extLst>
          </p:cNvPr>
          <p:cNvSpPr/>
          <p:nvPr/>
        </p:nvSpPr>
        <p:spPr>
          <a:xfrm>
            <a:off x="4486275" y="2279650"/>
            <a:ext cx="3219450" cy="2406649"/>
          </a:xfrm>
          <a:prstGeom prst="roundRect">
            <a:avLst/>
          </a:prstGeom>
          <a:solidFill>
            <a:schemeClr val="bg1">
              <a:lumMod val="65000"/>
              <a:alpha val="50000"/>
            </a:schemeClr>
          </a:solidFill>
          <a:ln>
            <a:solidFill>
              <a:schemeClr val="accent1">
                <a:shade val="1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Content Placeholder 2">
            <a:extLst>
              <a:ext uri="{FF2B5EF4-FFF2-40B4-BE49-F238E27FC236}">
                <a16:creationId xmlns:a16="http://schemas.microsoft.com/office/drawing/2014/main" id="{7186EED9-7682-CD37-CBEE-2FF8DA473D53}"/>
              </a:ext>
            </a:extLst>
          </p:cNvPr>
          <p:cNvSpPr txBox="1">
            <a:spLocks/>
          </p:cNvSpPr>
          <p:nvPr/>
        </p:nvSpPr>
        <p:spPr>
          <a:xfrm>
            <a:off x="4495800" y="2536826"/>
            <a:ext cx="3219450" cy="56197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dirty="0">
                <a:solidFill>
                  <a:schemeClr val="accent1">
                    <a:lumMod val="75000"/>
                  </a:schemeClr>
                </a:solidFill>
              </a:rPr>
              <a:t>Costly</a:t>
            </a:r>
          </a:p>
        </p:txBody>
      </p:sp>
      <p:cxnSp>
        <p:nvCxnSpPr>
          <p:cNvPr id="10" name="Straight Connector 9">
            <a:extLst>
              <a:ext uri="{FF2B5EF4-FFF2-40B4-BE49-F238E27FC236}">
                <a16:creationId xmlns:a16="http://schemas.microsoft.com/office/drawing/2014/main" id="{6D13154C-7B82-D1D9-EF16-6A94355FD13F}"/>
              </a:ext>
            </a:extLst>
          </p:cNvPr>
          <p:cNvCxnSpPr>
            <a:cxnSpLocks/>
          </p:cNvCxnSpPr>
          <p:nvPr/>
        </p:nvCxnSpPr>
        <p:spPr>
          <a:xfrm>
            <a:off x="4483100" y="3098800"/>
            <a:ext cx="321945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A12126D2-BF08-A0E0-19D9-A5173AE274CA}"/>
              </a:ext>
            </a:extLst>
          </p:cNvPr>
          <p:cNvSpPr txBox="1">
            <a:spLocks/>
          </p:cNvSpPr>
          <p:nvPr/>
        </p:nvSpPr>
        <p:spPr>
          <a:xfrm>
            <a:off x="4483100" y="3101976"/>
            <a:ext cx="3219450" cy="14954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Negative coverage of your patron risks retaliation from Moscow.</a:t>
            </a:r>
          </a:p>
        </p:txBody>
      </p:sp>
      <p:sp>
        <p:nvSpPr>
          <p:cNvPr id="12" name="Rectangle: Rounded Corners 11">
            <a:extLst>
              <a:ext uri="{FF2B5EF4-FFF2-40B4-BE49-F238E27FC236}">
                <a16:creationId xmlns:a16="http://schemas.microsoft.com/office/drawing/2014/main" id="{81955EA3-608C-25C8-7698-921B91F724CA}"/>
              </a:ext>
            </a:extLst>
          </p:cNvPr>
          <p:cNvSpPr/>
          <p:nvPr/>
        </p:nvSpPr>
        <p:spPr>
          <a:xfrm>
            <a:off x="8339138" y="2279651"/>
            <a:ext cx="3219450" cy="2406648"/>
          </a:xfrm>
          <a:prstGeom prst="roundRect">
            <a:avLst/>
          </a:prstGeom>
          <a:solidFill>
            <a:schemeClr val="bg1">
              <a:lumMod val="65000"/>
              <a:alpha val="50000"/>
            </a:schemeClr>
          </a:solidFill>
          <a:ln>
            <a:solidFill>
              <a:schemeClr val="accent1">
                <a:shade val="1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Content Placeholder 2">
            <a:extLst>
              <a:ext uri="{FF2B5EF4-FFF2-40B4-BE49-F238E27FC236}">
                <a16:creationId xmlns:a16="http://schemas.microsoft.com/office/drawing/2014/main" id="{DF9BD4D3-7DA8-6548-EEA4-FC533CD635CC}"/>
              </a:ext>
            </a:extLst>
          </p:cNvPr>
          <p:cNvSpPr txBox="1">
            <a:spLocks/>
          </p:cNvSpPr>
          <p:nvPr/>
        </p:nvSpPr>
        <p:spPr>
          <a:xfrm>
            <a:off x="8331200" y="2549526"/>
            <a:ext cx="3219450" cy="56197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dirty="0">
                <a:solidFill>
                  <a:schemeClr val="accent1">
                    <a:lumMod val="75000"/>
                  </a:schemeClr>
                </a:solidFill>
              </a:rPr>
              <a:t>Deniable</a:t>
            </a:r>
          </a:p>
        </p:txBody>
      </p:sp>
      <p:cxnSp>
        <p:nvCxnSpPr>
          <p:cNvPr id="14" name="Straight Connector 13">
            <a:extLst>
              <a:ext uri="{FF2B5EF4-FFF2-40B4-BE49-F238E27FC236}">
                <a16:creationId xmlns:a16="http://schemas.microsoft.com/office/drawing/2014/main" id="{F44C0A28-E9AE-BF3E-6693-2CBCE29C4B10}"/>
              </a:ext>
            </a:extLst>
          </p:cNvPr>
          <p:cNvCxnSpPr>
            <a:cxnSpLocks/>
          </p:cNvCxnSpPr>
          <p:nvPr/>
        </p:nvCxnSpPr>
        <p:spPr>
          <a:xfrm>
            <a:off x="8337550" y="3111500"/>
            <a:ext cx="321945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2">
            <a:extLst>
              <a:ext uri="{FF2B5EF4-FFF2-40B4-BE49-F238E27FC236}">
                <a16:creationId xmlns:a16="http://schemas.microsoft.com/office/drawing/2014/main" id="{92EB113B-7E26-9ABC-D4FE-B9CEC2C1B81C}"/>
              </a:ext>
            </a:extLst>
          </p:cNvPr>
          <p:cNvSpPr txBox="1">
            <a:spLocks/>
          </p:cNvSpPr>
          <p:nvPr/>
        </p:nvSpPr>
        <p:spPr>
          <a:xfrm>
            <a:off x="8337550" y="3114676"/>
            <a:ext cx="3219450" cy="14954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"We don't control the press." Institutional separation protects the relationship.</a:t>
            </a:r>
          </a:p>
        </p:txBody>
      </p:sp>
    </p:spTree>
    <p:extLst>
      <p:ext uri="{BB962C8B-B14F-4D97-AF65-F5344CB8AC3E}">
        <p14:creationId xmlns:p14="http://schemas.microsoft.com/office/powerpoint/2010/main" val="926403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3F541-1368-449C-F099-825B89520CAE}"/>
              </a:ext>
            </a:extLst>
          </p:cNvPr>
          <p:cNvSpPr>
            <a:spLocks noGrp="1"/>
          </p:cNvSpPr>
          <p:nvPr>
            <p:ph type="title"/>
          </p:nvPr>
        </p:nvSpPr>
        <p:spPr/>
        <p:txBody>
          <a:bodyPr/>
          <a:lstStyle/>
          <a:p>
            <a:r>
              <a:rPr lang="en-US" dirty="0"/>
              <a:t>Data &amp; Design</a:t>
            </a:r>
          </a:p>
        </p:txBody>
      </p:sp>
      <p:sp>
        <p:nvSpPr>
          <p:cNvPr id="3" name="Content Placeholder 2">
            <a:extLst>
              <a:ext uri="{FF2B5EF4-FFF2-40B4-BE49-F238E27FC236}">
                <a16:creationId xmlns:a16="http://schemas.microsoft.com/office/drawing/2014/main" id="{46927F55-A018-DC69-9363-46F5CF061DB7}"/>
              </a:ext>
            </a:extLst>
          </p:cNvPr>
          <p:cNvSpPr>
            <a:spLocks noGrp="1"/>
          </p:cNvSpPr>
          <p:nvPr>
            <p:ph idx="1"/>
          </p:nvPr>
        </p:nvSpPr>
        <p:spPr>
          <a:xfrm>
            <a:off x="3246120" y="2634371"/>
            <a:ext cx="2717800" cy="1589259"/>
          </a:xfrm>
        </p:spPr>
        <p:txBody>
          <a:bodyPr/>
          <a:lstStyle/>
          <a:p>
            <a:pPr marL="0" indent="0" algn="ctr">
              <a:buNone/>
            </a:pPr>
            <a:r>
              <a:rPr lang="en-US" sz="3000" b="1" dirty="0">
                <a:solidFill>
                  <a:schemeClr val="accent1">
                    <a:lumMod val="75000"/>
                  </a:schemeClr>
                </a:solidFill>
              </a:rPr>
              <a:t>GPT-4o</a:t>
            </a:r>
          </a:p>
          <a:p>
            <a:pPr marL="0" indent="0" algn="ctr">
              <a:buNone/>
            </a:pPr>
            <a:r>
              <a:rPr lang="en-US" sz="1800" b="1" dirty="0">
                <a:solidFill>
                  <a:schemeClr val="tx1">
                    <a:lumMod val="75000"/>
                    <a:lumOff val="25000"/>
                  </a:schemeClr>
                </a:solidFill>
              </a:rPr>
              <a:t>Sentiment</a:t>
            </a:r>
          </a:p>
          <a:p>
            <a:pPr marL="0" indent="0" algn="ctr">
              <a:buNone/>
            </a:pPr>
            <a:r>
              <a:rPr lang="en-US" sz="1200" dirty="0">
                <a:solidFill>
                  <a:schemeClr val="bg1">
                    <a:lumMod val="50000"/>
                  </a:schemeClr>
                </a:solidFill>
              </a:rPr>
              <a:t>F1 = .92 vs. human coders</a:t>
            </a:r>
            <a:endParaRPr lang="en-US" sz="1200" b="1" dirty="0">
              <a:solidFill>
                <a:schemeClr val="bg1">
                  <a:lumMod val="50000"/>
                </a:schemeClr>
              </a:solidFill>
            </a:endParaRPr>
          </a:p>
        </p:txBody>
      </p:sp>
      <p:sp>
        <p:nvSpPr>
          <p:cNvPr id="4" name="Content Placeholder 2">
            <a:extLst>
              <a:ext uri="{FF2B5EF4-FFF2-40B4-BE49-F238E27FC236}">
                <a16:creationId xmlns:a16="http://schemas.microsoft.com/office/drawing/2014/main" id="{870D4BBE-4C3A-02B3-C4DC-EAD447C5FFBC}"/>
              </a:ext>
            </a:extLst>
          </p:cNvPr>
          <p:cNvSpPr txBox="1">
            <a:spLocks/>
          </p:cNvSpPr>
          <p:nvPr/>
        </p:nvSpPr>
        <p:spPr>
          <a:xfrm>
            <a:off x="264160" y="2634371"/>
            <a:ext cx="2717800" cy="15892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000" b="1">
                <a:solidFill>
                  <a:schemeClr val="accent1">
                    <a:lumMod val="75000"/>
                  </a:schemeClr>
                </a:solidFill>
              </a:rPr>
              <a:t>174K</a:t>
            </a:r>
          </a:p>
          <a:p>
            <a:pPr marL="0" indent="0" algn="ctr">
              <a:buFont typeface="Arial" panose="020B0604020202020204" pitchFamily="34" charset="0"/>
              <a:buNone/>
            </a:pPr>
            <a:r>
              <a:rPr lang="en-US" sz="1800" b="1">
                <a:solidFill>
                  <a:schemeClr val="tx1">
                    <a:lumMod val="75000"/>
                    <a:lumOff val="25000"/>
                  </a:schemeClr>
                </a:solidFill>
              </a:rPr>
              <a:t>Articles</a:t>
            </a:r>
          </a:p>
          <a:p>
            <a:pPr marL="0" indent="0" algn="ctr">
              <a:buFont typeface="Arial" panose="020B0604020202020204" pitchFamily="34" charset="0"/>
              <a:buNone/>
            </a:pPr>
            <a:r>
              <a:rPr lang="en-US" sz="1200">
                <a:solidFill>
                  <a:schemeClr val="bg1">
                    <a:lumMod val="50000"/>
                  </a:schemeClr>
                </a:solidFill>
              </a:rPr>
              <a:t>11 countries, 62 sources</a:t>
            </a:r>
            <a:endParaRPr lang="en-US" sz="1200" b="1" dirty="0">
              <a:solidFill>
                <a:schemeClr val="bg1">
                  <a:lumMod val="50000"/>
                </a:schemeClr>
              </a:solidFill>
            </a:endParaRPr>
          </a:p>
        </p:txBody>
      </p:sp>
      <p:sp>
        <p:nvSpPr>
          <p:cNvPr id="5" name="Content Placeholder 2">
            <a:extLst>
              <a:ext uri="{FF2B5EF4-FFF2-40B4-BE49-F238E27FC236}">
                <a16:creationId xmlns:a16="http://schemas.microsoft.com/office/drawing/2014/main" id="{A9FD083E-1C59-316B-6586-F4161C3463A9}"/>
              </a:ext>
            </a:extLst>
          </p:cNvPr>
          <p:cNvSpPr txBox="1">
            <a:spLocks/>
          </p:cNvSpPr>
          <p:nvPr/>
        </p:nvSpPr>
        <p:spPr>
          <a:xfrm>
            <a:off x="6228080" y="2634371"/>
            <a:ext cx="2717800" cy="15892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000" b="1" dirty="0">
                <a:solidFill>
                  <a:schemeClr val="accent1">
                    <a:lumMod val="75000"/>
                  </a:schemeClr>
                </a:solidFill>
              </a:rPr>
              <a:t>RD</a:t>
            </a:r>
          </a:p>
          <a:p>
            <a:pPr marL="0" indent="0" algn="ctr">
              <a:buFont typeface="Arial" panose="020B0604020202020204" pitchFamily="34" charset="0"/>
              <a:buNone/>
            </a:pPr>
            <a:r>
              <a:rPr lang="en-US" sz="1800" b="1" dirty="0">
                <a:solidFill>
                  <a:schemeClr val="tx1">
                    <a:lumMod val="75000"/>
                    <a:lumOff val="25000"/>
                  </a:schemeClr>
                </a:solidFill>
              </a:rPr>
              <a:t>In Time</a:t>
            </a:r>
          </a:p>
          <a:p>
            <a:pPr marL="0" indent="0" algn="ctr">
              <a:buFont typeface="Arial" panose="020B0604020202020204" pitchFamily="34" charset="0"/>
              <a:buNone/>
            </a:pPr>
            <a:r>
              <a:rPr lang="en-US" sz="1200" dirty="0">
                <a:solidFill>
                  <a:schemeClr val="bg1">
                    <a:lumMod val="50000"/>
                  </a:schemeClr>
                </a:solidFill>
              </a:rPr>
              <a:t>Feb, 24 2022 as cutoff</a:t>
            </a:r>
            <a:endParaRPr lang="en-US" sz="1200" b="1" dirty="0">
              <a:solidFill>
                <a:schemeClr val="bg1">
                  <a:lumMod val="50000"/>
                </a:schemeClr>
              </a:solidFill>
            </a:endParaRPr>
          </a:p>
        </p:txBody>
      </p:sp>
      <p:sp>
        <p:nvSpPr>
          <p:cNvPr id="6" name="Content Placeholder 2">
            <a:extLst>
              <a:ext uri="{FF2B5EF4-FFF2-40B4-BE49-F238E27FC236}">
                <a16:creationId xmlns:a16="http://schemas.microsoft.com/office/drawing/2014/main" id="{9CB5E010-EB08-7368-AEAD-DFF794CB5450}"/>
              </a:ext>
            </a:extLst>
          </p:cNvPr>
          <p:cNvSpPr txBox="1">
            <a:spLocks/>
          </p:cNvSpPr>
          <p:nvPr/>
        </p:nvSpPr>
        <p:spPr>
          <a:xfrm>
            <a:off x="9210040" y="2634371"/>
            <a:ext cx="2717800" cy="15892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000" b="1" dirty="0">
                <a:solidFill>
                  <a:schemeClr val="accent1">
                    <a:lumMod val="75000"/>
                  </a:schemeClr>
                </a:solidFill>
              </a:rPr>
              <a:t>3</a:t>
            </a:r>
          </a:p>
          <a:p>
            <a:pPr marL="0" indent="0" algn="ctr">
              <a:buFont typeface="Arial" panose="020B0604020202020204" pitchFamily="34" charset="0"/>
              <a:buNone/>
            </a:pPr>
            <a:r>
              <a:rPr lang="en-US" sz="1800" b="1" dirty="0">
                <a:solidFill>
                  <a:schemeClr val="tx1">
                    <a:lumMod val="75000"/>
                    <a:lumOff val="25000"/>
                  </a:schemeClr>
                </a:solidFill>
              </a:rPr>
              <a:t>Groups</a:t>
            </a:r>
          </a:p>
          <a:p>
            <a:pPr marL="0" indent="0" algn="ctr">
              <a:buFont typeface="Arial" panose="020B0604020202020204" pitchFamily="34" charset="0"/>
              <a:buNone/>
            </a:pPr>
            <a:r>
              <a:rPr lang="en-US" sz="1200" dirty="0">
                <a:solidFill>
                  <a:schemeClr val="bg1">
                    <a:lumMod val="50000"/>
                  </a:schemeClr>
                </a:solidFill>
              </a:rPr>
              <a:t>Russia-aligned, Neutral, NATO</a:t>
            </a:r>
            <a:endParaRPr lang="en-US" sz="1200" b="1" dirty="0">
              <a:solidFill>
                <a:schemeClr val="bg1">
                  <a:lumMod val="50000"/>
                </a:schemeClr>
              </a:solidFill>
            </a:endParaRPr>
          </a:p>
        </p:txBody>
      </p:sp>
    </p:spTree>
    <p:extLst>
      <p:ext uri="{BB962C8B-B14F-4D97-AF65-F5344CB8AC3E}">
        <p14:creationId xmlns:p14="http://schemas.microsoft.com/office/powerpoint/2010/main" val="2220667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3F541-1368-449C-F099-825B89520CAE}"/>
              </a:ext>
            </a:extLst>
          </p:cNvPr>
          <p:cNvSpPr>
            <a:spLocks noGrp="1"/>
          </p:cNvSpPr>
          <p:nvPr>
            <p:ph type="title"/>
          </p:nvPr>
        </p:nvSpPr>
        <p:spPr/>
        <p:txBody>
          <a:bodyPr>
            <a:normAutofit fontScale="90000"/>
          </a:bodyPr>
          <a:lstStyle/>
          <a:p>
            <a:r>
              <a:rPr lang="en-US" sz="4900" dirty="0"/>
              <a:t>The Shock</a:t>
            </a:r>
            <a:br>
              <a:rPr lang="en-US" dirty="0"/>
            </a:br>
            <a:r>
              <a:rPr lang="en-US" sz="3100" dirty="0">
                <a:solidFill>
                  <a:schemeClr val="tx1"/>
                </a:solidFill>
              </a:rPr>
              <a:t>The invasion produced a sharp negative shock across all media.</a:t>
            </a:r>
            <a:endParaRPr lang="en-US" dirty="0">
              <a:solidFill>
                <a:schemeClr val="tx1"/>
              </a:solidFill>
            </a:endParaRPr>
          </a:p>
        </p:txBody>
      </p:sp>
      <p:pic>
        <p:nvPicPr>
          <p:cNvPr id="5" name="Picture 4">
            <a:extLst>
              <a:ext uri="{FF2B5EF4-FFF2-40B4-BE49-F238E27FC236}">
                <a16:creationId xmlns:a16="http://schemas.microsoft.com/office/drawing/2014/main" id="{267ACD7A-532B-CD4E-C89B-8B66BD3D7D1D}"/>
              </a:ext>
            </a:extLst>
          </p:cNvPr>
          <p:cNvPicPr>
            <a:picLocks noChangeAspect="1"/>
          </p:cNvPicPr>
          <p:nvPr/>
        </p:nvPicPr>
        <p:blipFill>
          <a:blip r:embed="rId3"/>
          <a:stretch>
            <a:fillRect/>
          </a:stretch>
        </p:blipFill>
        <p:spPr>
          <a:xfrm>
            <a:off x="3094036" y="1690689"/>
            <a:ext cx="6003929" cy="4202750"/>
          </a:xfrm>
          <a:prstGeom prst="rect">
            <a:avLst/>
          </a:prstGeom>
        </p:spPr>
      </p:pic>
    </p:spTree>
    <p:extLst>
      <p:ext uri="{BB962C8B-B14F-4D97-AF65-F5344CB8AC3E}">
        <p14:creationId xmlns:p14="http://schemas.microsoft.com/office/powerpoint/2010/main" val="850295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744AF-0E81-6FD0-A658-DBDC913022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33C7B4-E393-D666-D3C1-5DDBF328F64A}"/>
              </a:ext>
            </a:extLst>
          </p:cNvPr>
          <p:cNvSpPr>
            <a:spLocks noGrp="1"/>
          </p:cNvSpPr>
          <p:nvPr>
            <p:ph type="title"/>
          </p:nvPr>
        </p:nvSpPr>
        <p:spPr/>
        <p:txBody>
          <a:bodyPr>
            <a:normAutofit fontScale="90000"/>
          </a:bodyPr>
          <a:lstStyle/>
          <a:p>
            <a:r>
              <a:rPr lang="en-US" sz="4900" dirty="0"/>
              <a:t>State Media is Different</a:t>
            </a:r>
            <a:br>
              <a:rPr lang="en-US" dirty="0"/>
            </a:br>
            <a:r>
              <a:rPr lang="en-US" sz="3100" dirty="0">
                <a:solidFill>
                  <a:schemeClr val="tx1"/>
                </a:solidFill>
              </a:rPr>
              <a:t>State media responded less negatively than independent media.</a:t>
            </a:r>
            <a:endParaRPr lang="en-US" dirty="0">
              <a:solidFill>
                <a:schemeClr val="tx1"/>
              </a:solidFill>
            </a:endParaRPr>
          </a:p>
        </p:txBody>
      </p:sp>
      <p:pic>
        <p:nvPicPr>
          <p:cNvPr id="4" name="Picture 3">
            <a:extLst>
              <a:ext uri="{FF2B5EF4-FFF2-40B4-BE49-F238E27FC236}">
                <a16:creationId xmlns:a16="http://schemas.microsoft.com/office/drawing/2014/main" id="{A9C99FED-A6AE-56A0-FF46-8CBE38E8CB40}"/>
              </a:ext>
            </a:extLst>
          </p:cNvPr>
          <p:cNvPicPr>
            <a:picLocks noChangeAspect="1"/>
          </p:cNvPicPr>
          <p:nvPr/>
        </p:nvPicPr>
        <p:blipFill>
          <a:blip r:embed="rId3"/>
          <a:stretch>
            <a:fillRect/>
          </a:stretch>
        </p:blipFill>
        <p:spPr>
          <a:xfrm>
            <a:off x="3094036" y="1686560"/>
            <a:ext cx="6003929" cy="4202750"/>
          </a:xfrm>
          <a:prstGeom prst="rect">
            <a:avLst/>
          </a:prstGeom>
        </p:spPr>
      </p:pic>
    </p:spTree>
    <p:extLst>
      <p:ext uri="{BB962C8B-B14F-4D97-AF65-F5344CB8AC3E}">
        <p14:creationId xmlns:p14="http://schemas.microsoft.com/office/powerpoint/2010/main" val="3543447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DCB32-9993-09DE-E17A-BB681801F7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5AA1D-52B4-42DE-EBFE-2778976EA309}"/>
              </a:ext>
            </a:extLst>
          </p:cNvPr>
          <p:cNvSpPr>
            <a:spLocks noGrp="1"/>
          </p:cNvSpPr>
          <p:nvPr>
            <p:ph type="title"/>
          </p:nvPr>
        </p:nvSpPr>
        <p:spPr/>
        <p:txBody>
          <a:bodyPr/>
          <a:lstStyle/>
          <a:p>
            <a:r>
              <a:rPr lang="en-US" dirty="0"/>
              <a:t>Two Predictions</a:t>
            </a:r>
          </a:p>
        </p:txBody>
      </p:sp>
      <p:sp>
        <p:nvSpPr>
          <p:cNvPr id="3" name="Text Placeholder 2">
            <a:extLst>
              <a:ext uri="{FF2B5EF4-FFF2-40B4-BE49-F238E27FC236}">
                <a16:creationId xmlns:a16="http://schemas.microsoft.com/office/drawing/2014/main" id="{7E87969F-99A0-A435-2A19-9DD9DBC85558}"/>
              </a:ext>
            </a:extLst>
          </p:cNvPr>
          <p:cNvSpPr>
            <a:spLocks noGrp="1"/>
          </p:cNvSpPr>
          <p:nvPr>
            <p:ph type="body" idx="1"/>
          </p:nvPr>
        </p:nvSpPr>
        <p:spPr/>
        <p:txBody>
          <a:bodyPr>
            <a:normAutofit/>
          </a:bodyPr>
          <a:lstStyle/>
          <a:p>
            <a:r>
              <a:rPr lang="en-US" sz="3200" dirty="0"/>
              <a:t>Domestic Propaganda</a:t>
            </a:r>
          </a:p>
        </p:txBody>
      </p:sp>
      <p:sp>
        <p:nvSpPr>
          <p:cNvPr id="4" name="Content Placeholder 3">
            <a:extLst>
              <a:ext uri="{FF2B5EF4-FFF2-40B4-BE49-F238E27FC236}">
                <a16:creationId xmlns:a16="http://schemas.microsoft.com/office/drawing/2014/main" id="{E4198F1A-9D98-D4E7-C33A-FA9B7ADECDFC}"/>
              </a:ext>
            </a:extLst>
          </p:cNvPr>
          <p:cNvSpPr>
            <a:spLocks noGrp="1"/>
          </p:cNvSpPr>
          <p:nvPr>
            <p:ph sz="half" idx="2"/>
          </p:nvPr>
        </p:nvSpPr>
        <p:spPr>
          <a:xfrm>
            <a:off x="839788" y="2505075"/>
            <a:ext cx="5157787" cy="2165350"/>
          </a:xfrm>
        </p:spPr>
        <p:txBody>
          <a:bodyPr/>
          <a:lstStyle/>
          <a:p>
            <a:pPr marL="0" indent="0">
              <a:buNone/>
            </a:pPr>
            <a:r>
              <a:rPr lang="en-US" dirty="0"/>
              <a:t>Suppress negative coverage to protect the alliance →</a:t>
            </a:r>
          </a:p>
          <a:p>
            <a:pPr marL="0" indent="0">
              <a:buNone/>
            </a:pPr>
            <a:r>
              <a:rPr lang="en-US" dirty="0"/>
              <a:t>Russia-aligned state media should be the </a:t>
            </a:r>
            <a:r>
              <a:rPr lang="en-US" i="1" dirty="0"/>
              <a:t>least</a:t>
            </a:r>
            <a:r>
              <a:rPr lang="en-US" dirty="0"/>
              <a:t> negative.</a:t>
            </a:r>
          </a:p>
        </p:txBody>
      </p:sp>
      <p:sp>
        <p:nvSpPr>
          <p:cNvPr id="5" name="Text Placeholder 4">
            <a:extLst>
              <a:ext uri="{FF2B5EF4-FFF2-40B4-BE49-F238E27FC236}">
                <a16:creationId xmlns:a16="http://schemas.microsoft.com/office/drawing/2014/main" id="{C968441E-8945-6F74-6DB3-B14A2868CECA}"/>
              </a:ext>
            </a:extLst>
          </p:cNvPr>
          <p:cNvSpPr>
            <a:spLocks noGrp="1"/>
          </p:cNvSpPr>
          <p:nvPr>
            <p:ph type="body" sz="quarter" idx="3"/>
          </p:nvPr>
        </p:nvSpPr>
        <p:spPr/>
        <p:txBody>
          <a:bodyPr>
            <a:normAutofit/>
          </a:bodyPr>
          <a:lstStyle/>
          <a:p>
            <a:r>
              <a:rPr lang="en-US" sz="3200" dirty="0"/>
              <a:t>Signaling</a:t>
            </a:r>
          </a:p>
        </p:txBody>
      </p:sp>
      <p:sp>
        <p:nvSpPr>
          <p:cNvPr id="6" name="Content Placeholder 5">
            <a:extLst>
              <a:ext uri="{FF2B5EF4-FFF2-40B4-BE49-F238E27FC236}">
                <a16:creationId xmlns:a16="http://schemas.microsoft.com/office/drawing/2014/main" id="{CA53CD9C-21F5-78A3-3F8D-8E8749420A7F}"/>
              </a:ext>
            </a:extLst>
          </p:cNvPr>
          <p:cNvSpPr>
            <a:spLocks noGrp="1"/>
          </p:cNvSpPr>
          <p:nvPr>
            <p:ph sz="quarter" idx="4"/>
          </p:nvPr>
        </p:nvSpPr>
        <p:spPr>
          <a:xfrm>
            <a:off x="6172200" y="2505075"/>
            <a:ext cx="5183188" cy="2165350"/>
          </a:xfrm>
        </p:spPr>
        <p:txBody>
          <a:bodyPr/>
          <a:lstStyle/>
          <a:p>
            <a:pPr marL="0" indent="0">
              <a:buNone/>
            </a:pPr>
            <a:r>
              <a:rPr lang="en-US" dirty="0"/>
              <a:t>Amplify through informal channels because formal ones are locked →</a:t>
            </a:r>
          </a:p>
          <a:p>
            <a:pPr marL="0" indent="0">
              <a:buNone/>
            </a:pPr>
            <a:r>
              <a:rPr lang="en-US" dirty="0"/>
              <a:t>Russia-aligned state media should be the </a:t>
            </a:r>
            <a:r>
              <a:rPr lang="en-US" i="1" dirty="0"/>
              <a:t>most</a:t>
            </a:r>
            <a:r>
              <a:rPr lang="en-US" dirty="0"/>
              <a:t> negative.</a:t>
            </a:r>
          </a:p>
        </p:txBody>
      </p:sp>
      <p:cxnSp>
        <p:nvCxnSpPr>
          <p:cNvPr id="10" name="Straight Connector 9">
            <a:extLst>
              <a:ext uri="{FF2B5EF4-FFF2-40B4-BE49-F238E27FC236}">
                <a16:creationId xmlns:a16="http://schemas.microsoft.com/office/drawing/2014/main" id="{61B3B99A-0051-75EA-56F5-D9058258E46C}"/>
              </a:ext>
            </a:extLst>
          </p:cNvPr>
          <p:cNvCxnSpPr>
            <a:cxnSpLocks/>
          </p:cNvCxnSpPr>
          <p:nvPr/>
        </p:nvCxnSpPr>
        <p:spPr>
          <a:xfrm>
            <a:off x="5937250" y="1973263"/>
            <a:ext cx="0" cy="2916237"/>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4831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AC133-D435-1AE8-277C-6BF165D5E3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8CC03-B1B8-BB6D-A307-C7373FF252AB}"/>
              </a:ext>
            </a:extLst>
          </p:cNvPr>
          <p:cNvSpPr>
            <a:spLocks noGrp="1"/>
          </p:cNvSpPr>
          <p:nvPr>
            <p:ph type="title"/>
          </p:nvPr>
        </p:nvSpPr>
        <p:spPr/>
        <p:txBody>
          <a:bodyPr>
            <a:normAutofit/>
          </a:bodyPr>
          <a:lstStyle/>
          <a:p>
            <a:r>
              <a:rPr lang="en-US" dirty="0"/>
              <a:t>The Counterintuitive Finding</a:t>
            </a:r>
            <a:br>
              <a:rPr lang="en-US" dirty="0"/>
            </a:br>
            <a:r>
              <a:rPr lang="en-US" sz="2800" dirty="0">
                <a:solidFill>
                  <a:schemeClr val="tx1"/>
                </a:solidFill>
              </a:rPr>
              <a:t>Russia's allies went more negative — not less.</a:t>
            </a:r>
            <a:endParaRPr lang="en-US" dirty="0">
              <a:solidFill>
                <a:schemeClr val="tx1"/>
              </a:solidFill>
            </a:endParaRPr>
          </a:p>
        </p:txBody>
      </p:sp>
      <p:pic>
        <p:nvPicPr>
          <p:cNvPr id="7" name="Picture 6">
            <a:extLst>
              <a:ext uri="{FF2B5EF4-FFF2-40B4-BE49-F238E27FC236}">
                <a16:creationId xmlns:a16="http://schemas.microsoft.com/office/drawing/2014/main" id="{91C30753-FFCD-3AC9-C5C4-2B837E8BA9FE}"/>
              </a:ext>
            </a:extLst>
          </p:cNvPr>
          <p:cNvPicPr>
            <a:picLocks noChangeAspect="1"/>
          </p:cNvPicPr>
          <p:nvPr/>
        </p:nvPicPr>
        <p:blipFill>
          <a:blip r:embed="rId3"/>
          <a:stretch>
            <a:fillRect/>
          </a:stretch>
        </p:blipFill>
        <p:spPr>
          <a:xfrm>
            <a:off x="3100385" y="1686560"/>
            <a:ext cx="5991230" cy="4193861"/>
          </a:xfrm>
          <a:prstGeom prst="rect">
            <a:avLst/>
          </a:prstGeom>
        </p:spPr>
      </p:pic>
      <p:cxnSp>
        <p:nvCxnSpPr>
          <p:cNvPr id="9" name="Connector: Elbow 8">
            <a:extLst>
              <a:ext uri="{FF2B5EF4-FFF2-40B4-BE49-F238E27FC236}">
                <a16:creationId xmlns:a16="http://schemas.microsoft.com/office/drawing/2014/main" id="{F26AD880-6995-9771-5E9B-AD10B482584D}"/>
              </a:ext>
            </a:extLst>
          </p:cNvPr>
          <p:cNvCxnSpPr>
            <a:cxnSpLocks/>
          </p:cNvCxnSpPr>
          <p:nvPr/>
        </p:nvCxnSpPr>
        <p:spPr>
          <a:xfrm flipV="1">
            <a:off x="6584737" y="2736154"/>
            <a:ext cx="3105150" cy="374650"/>
          </a:xfrm>
          <a:prstGeom prst="bentConnector3">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Right Brace 12">
            <a:extLst>
              <a:ext uri="{FF2B5EF4-FFF2-40B4-BE49-F238E27FC236}">
                <a16:creationId xmlns:a16="http://schemas.microsoft.com/office/drawing/2014/main" id="{B9F3EFB2-E517-4527-A60E-459ACB49036C}"/>
              </a:ext>
            </a:extLst>
          </p:cNvPr>
          <p:cNvSpPr/>
          <p:nvPr/>
        </p:nvSpPr>
        <p:spPr>
          <a:xfrm>
            <a:off x="6470650" y="3009900"/>
            <a:ext cx="57150" cy="198874"/>
          </a:xfrm>
          <a:prstGeom prst="rightBrac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Content Placeholder 5">
            <a:extLst>
              <a:ext uri="{FF2B5EF4-FFF2-40B4-BE49-F238E27FC236}">
                <a16:creationId xmlns:a16="http://schemas.microsoft.com/office/drawing/2014/main" id="{A9936112-04C5-A1FD-58A0-86D1B9D95E41}"/>
              </a:ext>
            </a:extLst>
          </p:cNvPr>
          <p:cNvSpPr txBox="1">
            <a:spLocks/>
          </p:cNvSpPr>
          <p:nvPr/>
        </p:nvSpPr>
        <p:spPr>
          <a:xfrm>
            <a:off x="9745664" y="2492375"/>
            <a:ext cx="1862136" cy="5048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Russia-Aligned Drops</a:t>
            </a:r>
          </a:p>
        </p:txBody>
      </p:sp>
      <p:cxnSp>
        <p:nvCxnSpPr>
          <p:cNvPr id="16" name="Connector: Elbow 15">
            <a:extLst>
              <a:ext uri="{FF2B5EF4-FFF2-40B4-BE49-F238E27FC236}">
                <a16:creationId xmlns:a16="http://schemas.microsoft.com/office/drawing/2014/main" id="{6CFE2D01-2F8D-4FCF-0B05-1AC70E36E5D6}"/>
              </a:ext>
            </a:extLst>
          </p:cNvPr>
          <p:cNvCxnSpPr/>
          <p:nvPr/>
        </p:nvCxnSpPr>
        <p:spPr>
          <a:xfrm>
            <a:off x="6470650" y="3746500"/>
            <a:ext cx="3340100" cy="965200"/>
          </a:xfrm>
          <a:prstGeom prst="bentConnector3">
            <a:avLst/>
          </a:prstGeom>
          <a:ln w="254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Content Placeholder 5">
            <a:extLst>
              <a:ext uri="{FF2B5EF4-FFF2-40B4-BE49-F238E27FC236}">
                <a16:creationId xmlns:a16="http://schemas.microsoft.com/office/drawing/2014/main" id="{4C56AFAA-E0F7-AF1F-C8DE-B18B41562AB6}"/>
              </a:ext>
            </a:extLst>
          </p:cNvPr>
          <p:cNvSpPr txBox="1">
            <a:spLocks/>
          </p:cNvSpPr>
          <p:nvPr/>
        </p:nvSpPr>
        <p:spPr>
          <a:xfrm>
            <a:off x="9842500" y="4467225"/>
            <a:ext cx="1397000" cy="5048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Neutral: No Change</a:t>
            </a:r>
          </a:p>
        </p:txBody>
      </p:sp>
    </p:spTree>
    <p:extLst>
      <p:ext uri="{BB962C8B-B14F-4D97-AF65-F5344CB8AC3E}">
        <p14:creationId xmlns:p14="http://schemas.microsoft.com/office/powerpoint/2010/main" val="3395704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72DF0-EB73-AF56-FD3E-6BEE80000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5301F7-C8B8-D60F-1F7A-B0506E562B23}"/>
              </a:ext>
            </a:extLst>
          </p:cNvPr>
          <p:cNvSpPr>
            <a:spLocks noGrp="1"/>
          </p:cNvSpPr>
          <p:nvPr>
            <p:ph type="title"/>
          </p:nvPr>
        </p:nvSpPr>
        <p:spPr/>
        <p:txBody>
          <a:bodyPr>
            <a:normAutofit/>
          </a:bodyPr>
          <a:lstStyle/>
          <a:p>
            <a:r>
              <a:rPr lang="en-US" dirty="0"/>
              <a:t>The Counterintuitive Finding</a:t>
            </a:r>
            <a:br>
              <a:rPr lang="en-US" dirty="0"/>
            </a:br>
            <a:r>
              <a:rPr lang="en-US" sz="2800" dirty="0">
                <a:solidFill>
                  <a:schemeClr val="tx1"/>
                </a:solidFill>
              </a:rPr>
              <a:t>Russia's allies went more negative — not less.</a:t>
            </a:r>
            <a:endParaRPr lang="en-US" dirty="0">
              <a:solidFill>
                <a:schemeClr val="tx1"/>
              </a:solidFill>
            </a:endParaRPr>
          </a:p>
        </p:txBody>
      </p:sp>
      <p:pic>
        <p:nvPicPr>
          <p:cNvPr id="7" name="Picture 6">
            <a:extLst>
              <a:ext uri="{FF2B5EF4-FFF2-40B4-BE49-F238E27FC236}">
                <a16:creationId xmlns:a16="http://schemas.microsoft.com/office/drawing/2014/main" id="{63742A2D-2D6B-C580-10C4-C4A544D143B6}"/>
              </a:ext>
            </a:extLst>
          </p:cNvPr>
          <p:cNvPicPr>
            <a:picLocks noChangeAspect="1"/>
          </p:cNvPicPr>
          <p:nvPr/>
        </p:nvPicPr>
        <p:blipFill>
          <a:blip r:embed="rId3"/>
          <a:stretch>
            <a:fillRect/>
          </a:stretch>
        </p:blipFill>
        <p:spPr>
          <a:xfrm>
            <a:off x="3100385" y="1686560"/>
            <a:ext cx="5991230" cy="4193861"/>
          </a:xfrm>
          <a:prstGeom prst="rect">
            <a:avLst/>
          </a:prstGeom>
        </p:spPr>
      </p:pic>
      <p:cxnSp>
        <p:nvCxnSpPr>
          <p:cNvPr id="9" name="Connector: Elbow 8">
            <a:extLst>
              <a:ext uri="{FF2B5EF4-FFF2-40B4-BE49-F238E27FC236}">
                <a16:creationId xmlns:a16="http://schemas.microsoft.com/office/drawing/2014/main" id="{299E33E8-3961-AD76-9BA4-72E6A2054094}"/>
              </a:ext>
            </a:extLst>
          </p:cNvPr>
          <p:cNvCxnSpPr>
            <a:cxnSpLocks/>
          </p:cNvCxnSpPr>
          <p:nvPr/>
        </p:nvCxnSpPr>
        <p:spPr>
          <a:xfrm flipV="1">
            <a:off x="6584737" y="2736154"/>
            <a:ext cx="3105150" cy="374650"/>
          </a:xfrm>
          <a:prstGeom prst="bentConnector3">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Right Brace 12">
            <a:extLst>
              <a:ext uri="{FF2B5EF4-FFF2-40B4-BE49-F238E27FC236}">
                <a16:creationId xmlns:a16="http://schemas.microsoft.com/office/drawing/2014/main" id="{148E6885-D9D0-98EB-E821-C241ABAF34BA}"/>
              </a:ext>
            </a:extLst>
          </p:cNvPr>
          <p:cNvSpPr/>
          <p:nvPr/>
        </p:nvSpPr>
        <p:spPr>
          <a:xfrm>
            <a:off x="6470650" y="3009900"/>
            <a:ext cx="57150" cy="198874"/>
          </a:xfrm>
          <a:prstGeom prst="rightBrac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Content Placeholder 5">
            <a:extLst>
              <a:ext uri="{FF2B5EF4-FFF2-40B4-BE49-F238E27FC236}">
                <a16:creationId xmlns:a16="http://schemas.microsoft.com/office/drawing/2014/main" id="{5D0A7C4E-CDB7-B10E-EB41-D8EF8AE506F9}"/>
              </a:ext>
            </a:extLst>
          </p:cNvPr>
          <p:cNvSpPr txBox="1">
            <a:spLocks/>
          </p:cNvSpPr>
          <p:nvPr/>
        </p:nvSpPr>
        <p:spPr>
          <a:xfrm>
            <a:off x="9745664" y="2492375"/>
            <a:ext cx="1862136" cy="5048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Russia-Aligned Drops</a:t>
            </a:r>
          </a:p>
        </p:txBody>
      </p:sp>
      <p:cxnSp>
        <p:nvCxnSpPr>
          <p:cNvPr id="16" name="Connector: Elbow 15">
            <a:extLst>
              <a:ext uri="{FF2B5EF4-FFF2-40B4-BE49-F238E27FC236}">
                <a16:creationId xmlns:a16="http://schemas.microsoft.com/office/drawing/2014/main" id="{FC6549C8-632B-5DE9-FF77-449D833ED6E2}"/>
              </a:ext>
            </a:extLst>
          </p:cNvPr>
          <p:cNvCxnSpPr/>
          <p:nvPr/>
        </p:nvCxnSpPr>
        <p:spPr>
          <a:xfrm>
            <a:off x="6470650" y="3746500"/>
            <a:ext cx="3340100" cy="965200"/>
          </a:xfrm>
          <a:prstGeom prst="bentConnector3">
            <a:avLst/>
          </a:prstGeom>
          <a:ln w="254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Content Placeholder 5">
            <a:extLst>
              <a:ext uri="{FF2B5EF4-FFF2-40B4-BE49-F238E27FC236}">
                <a16:creationId xmlns:a16="http://schemas.microsoft.com/office/drawing/2014/main" id="{BFACE106-F49B-76BB-2EA1-5DFFEC37FDF6}"/>
              </a:ext>
            </a:extLst>
          </p:cNvPr>
          <p:cNvSpPr txBox="1">
            <a:spLocks/>
          </p:cNvSpPr>
          <p:nvPr/>
        </p:nvSpPr>
        <p:spPr>
          <a:xfrm>
            <a:off x="9842500" y="4467225"/>
            <a:ext cx="1397000" cy="5048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Neutral: No Change</a:t>
            </a:r>
          </a:p>
        </p:txBody>
      </p:sp>
    </p:spTree>
    <p:extLst>
      <p:ext uri="{BB962C8B-B14F-4D97-AF65-F5344CB8AC3E}">
        <p14:creationId xmlns:p14="http://schemas.microsoft.com/office/powerpoint/2010/main" val="1050811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3520E-E0DA-E51C-6DD1-6617D56D0D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A1DAF2-14B1-9142-35F1-CA76CD2284F1}"/>
              </a:ext>
            </a:extLst>
          </p:cNvPr>
          <p:cNvSpPr>
            <a:spLocks noGrp="1"/>
          </p:cNvSpPr>
          <p:nvPr>
            <p:ph type="title"/>
          </p:nvPr>
        </p:nvSpPr>
        <p:spPr/>
        <p:txBody>
          <a:bodyPr/>
          <a:lstStyle/>
          <a:p>
            <a:r>
              <a:rPr lang="en-US" dirty="0"/>
              <a:t>Beyond International Relations</a:t>
            </a:r>
          </a:p>
        </p:txBody>
      </p:sp>
      <p:sp>
        <p:nvSpPr>
          <p:cNvPr id="3" name="Content Placeholder 2">
            <a:extLst>
              <a:ext uri="{FF2B5EF4-FFF2-40B4-BE49-F238E27FC236}">
                <a16:creationId xmlns:a16="http://schemas.microsoft.com/office/drawing/2014/main" id="{FB9DF1E8-D509-6D99-5038-4161C2378A79}"/>
              </a:ext>
            </a:extLst>
          </p:cNvPr>
          <p:cNvSpPr>
            <a:spLocks noGrp="1"/>
          </p:cNvSpPr>
          <p:nvPr>
            <p:ph idx="1"/>
          </p:nvPr>
        </p:nvSpPr>
        <p:spPr>
          <a:xfrm>
            <a:off x="838200" y="1825624"/>
            <a:ext cx="10515600" cy="3838575"/>
          </a:xfrm>
        </p:spPr>
        <p:txBody>
          <a:bodyPr>
            <a:normAutofit/>
          </a:bodyPr>
          <a:lstStyle/>
          <a:p>
            <a:pPr marL="0" indent="0">
              <a:spcAft>
                <a:spcPts val="1500"/>
              </a:spcAft>
              <a:buNone/>
            </a:pPr>
            <a:r>
              <a:rPr lang="en-US" b="1" dirty="0"/>
              <a:t>Constrained communication is universal.</a:t>
            </a:r>
            <a:r>
              <a:rPr lang="en-US" dirty="0"/>
              <a:t> When formal channels are blocked, actors find informal ones — in any hierarchy, not just international relations.</a:t>
            </a:r>
          </a:p>
          <a:p>
            <a:pPr marL="0" indent="0">
              <a:spcAft>
                <a:spcPts val="1500"/>
              </a:spcAft>
              <a:buNone/>
            </a:pPr>
            <a:r>
              <a:rPr lang="en-US" b="1" dirty="0"/>
              <a:t>The theory-practice gap is a method.</a:t>
            </a:r>
            <a:r>
              <a:rPr lang="en-US" dirty="0"/>
              <a:t> What do practitioners in your field know that we haven't studied yet?</a:t>
            </a:r>
          </a:p>
          <a:p>
            <a:pPr marL="0" indent="0">
              <a:spcAft>
                <a:spcPts val="1500"/>
              </a:spcAft>
              <a:buNone/>
            </a:pPr>
            <a:r>
              <a:rPr lang="en-US" b="1" dirty="0"/>
              <a:t>LLMs unlock questions at scale.</a:t>
            </a:r>
            <a:r>
              <a:rPr lang="en-US" dirty="0"/>
              <a:t> 174K articles, one model, .92 accuracy — this wasn't possible five years ago.</a:t>
            </a:r>
          </a:p>
        </p:txBody>
      </p:sp>
    </p:spTree>
    <p:extLst>
      <p:ext uri="{BB962C8B-B14F-4D97-AF65-F5344CB8AC3E}">
        <p14:creationId xmlns:p14="http://schemas.microsoft.com/office/powerpoint/2010/main" val="3212103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76D0E-3739-09E7-D481-5928BF774870}"/>
            </a:ext>
          </a:extLst>
        </p:cNvPr>
        <p:cNvGrpSpPr/>
        <p:nvPr/>
      </p:nvGrpSpPr>
      <p:grpSpPr>
        <a:xfrm>
          <a:off x="0" y="0"/>
          <a:ext cx="0" cy="0"/>
          <a:chOff x="0" y="0"/>
          <a:chExt cx="0" cy="0"/>
        </a:xfrm>
      </p:grpSpPr>
      <p:pic>
        <p:nvPicPr>
          <p:cNvPr id="2050" name="Picture 2" descr="Ukrainian tanks move into the city, after Russian President Vladimir Putin authorized military operation in eastern Ukraine, in Mariupol">
            <a:extLst>
              <a:ext uri="{FF2B5EF4-FFF2-40B4-BE49-F238E27FC236}">
                <a16:creationId xmlns:a16="http://schemas.microsoft.com/office/drawing/2014/main" id="{D8FC9385-C5E8-D1CD-53B8-DABB5D49E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250" y="12700"/>
            <a:ext cx="8216900" cy="547793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8ACDFCF4-4EF3-BC4C-B446-C3A7870AA12B}"/>
              </a:ext>
            </a:extLst>
          </p:cNvPr>
          <p:cNvSpPr/>
          <p:nvPr/>
        </p:nvSpPr>
        <p:spPr>
          <a:xfrm>
            <a:off x="1701800" y="-6350"/>
            <a:ext cx="10890250" cy="5556250"/>
          </a:xfrm>
          <a:prstGeom prst="roundRect">
            <a:avLst/>
          </a:prstGeom>
          <a:gradFill flip="none" rotWithShape="1">
            <a:gsLst>
              <a:gs pos="0">
                <a:schemeClr val="bg1"/>
              </a:gs>
              <a:gs pos="46000">
                <a:schemeClr val="bg1">
                  <a:alpha val="35000"/>
                </a:schemeClr>
              </a:gs>
              <a:gs pos="76000">
                <a:schemeClr val="bg1">
                  <a:alpha val="0"/>
                </a:schemeClr>
              </a:gs>
              <a:gs pos="21000">
                <a:schemeClr val="bg1"/>
              </a:gs>
            </a:gsLst>
            <a:lin ang="0" scaled="0"/>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6">
            <a:extLst>
              <a:ext uri="{FF2B5EF4-FFF2-40B4-BE49-F238E27FC236}">
                <a16:creationId xmlns:a16="http://schemas.microsoft.com/office/drawing/2014/main" id="{09713825-4612-0C6F-6302-BCDA773E818E}"/>
              </a:ext>
            </a:extLst>
          </p:cNvPr>
          <p:cNvSpPr>
            <a:spLocks noGrp="1"/>
          </p:cNvSpPr>
          <p:nvPr>
            <p:ph type="ctrTitle"/>
          </p:nvPr>
        </p:nvSpPr>
        <p:spPr>
          <a:xfrm>
            <a:off x="952229" y="1784350"/>
            <a:ext cx="3734072" cy="1749424"/>
          </a:xfrm>
          <a:noFill/>
        </p:spPr>
        <p:txBody>
          <a:bodyPr anchor="t">
            <a:normAutofit/>
          </a:bodyPr>
          <a:lstStyle/>
          <a:p>
            <a:pPr algn="l"/>
            <a:r>
              <a:rPr lang="en-US" sz="5300" dirty="0"/>
              <a:t>Thank You</a:t>
            </a:r>
            <a:br>
              <a:rPr lang="en-US" sz="3300" dirty="0"/>
            </a:br>
            <a:r>
              <a:rPr lang="en-US" sz="2400" dirty="0">
                <a:solidFill>
                  <a:schemeClr val="bg1">
                    <a:lumMod val="50000"/>
                  </a:schemeClr>
                </a:solidFill>
              </a:rPr>
              <a:t>Donald Moratz</a:t>
            </a:r>
            <a:br>
              <a:rPr lang="en-US" sz="2400" dirty="0">
                <a:solidFill>
                  <a:schemeClr val="bg1">
                    <a:lumMod val="50000"/>
                  </a:schemeClr>
                </a:solidFill>
              </a:rPr>
            </a:br>
            <a:r>
              <a:rPr lang="en-US" sz="2400" dirty="0">
                <a:solidFill>
                  <a:schemeClr val="bg1">
                    <a:lumMod val="50000"/>
                  </a:schemeClr>
                </a:solidFill>
              </a:rPr>
              <a:t>dmoratz@sas.upenn.edu</a:t>
            </a:r>
            <a:endParaRPr lang="en-US" sz="3300" dirty="0">
              <a:solidFill>
                <a:schemeClr val="bg1">
                  <a:lumMod val="50000"/>
                </a:schemeClr>
              </a:solidFill>
            </a:endParaRPr>
          </a:p>
        </p:txBody>
      </p:sp>
      <p:sp>
        <p:nvSpPr>
          <p:cNvPr id="6" name="Subtitle 7">
            <a:extLst>
              <a:ext uri="{FF2B5EF4-FFF2-40B4-BE49-F238E27FC236}">
                <a16:creationId xmlns:a16="http://schemas.microsoft.com/office/drawing/2014/main" id="{16C1A81E-8D91-4963-4EE8-D53769C726FC}"/>
              </a:ext>
            </a:extLst>
          </p:cNvPr>
          <p:cNvSpPr>
            <a:spLocks noGrp="1"/>
          </p:cNvSpPr>
          <p:nvPr>
            <p:ph type="subTitle" idx="1"/>
          </p:nvPr>
        </p:nvSpPr>
        <p:spPr>
          <a:xfrm>
            <a:off x="952229" y="3727534"/>
            <a:ext cx="3973386" cy="1485319"/>
          </a:xfrm>
          <a:noFill/>
        </p:spPr>
        <p:txBody>
          <a:bodyPr>
            <a:normAutofit/>
          </a:bodyPr>
          <a:lstStyle/>
          <a:p>
            <a:pPr algn="l"/>
            <a:r>
              <a:rPr lang="en-US" dirty="0"/>
              <a:t>The Signaling Gap</a:t>
            </a:r>
          </a:p>
          <a:p>
            <a:pPr algn="l"/>
            <a:endParaRPr lang="en-US" dirty="0"/>
          </a:p>
        </p:txBody>
      </p:sp>
      <p:sp>
        <p:nvSpPr>
          <p:cNvPr id="7" name="TextBox 6">
            <a:extLst>
              <a:ext uri="{FF2B5EF4-FFF2-40B4-BE49-F238E27FC236}">
                <a16:creationId xmlns:a16="http://schemas.microsoft.com/office/drawing/2014/main" id="{B789DDDA-03D8-F385-1019-ABE233EBF4A1}"/>
              </a:ext>
            </a:extLst>
          </p:cNvPr>
          <p:cNvSpPr txBox="1"/>
          <p:nvPr/>
        </p:nvSpPr>
        <p:spPr>
          <a:xfrm>
            <a:off x="8993557" y="5435600"/>
            <a:ext cx="2882520" cy="246221"/>
          </a:xfrm>
          <a:prstGeom prst="rect">
            <a:avLst/>
          </a:prstGeom>
          <a:noFill/>
        </p:spPr>
        <p:txBody>
          <a:bodyPr wrap="none" rtlCol="0">
            <a:spAutoFit/>
          </a:bodyPr>
          <a:lstStyle/>
          <a:p>
            <a:r>
              <a:rPr lang="en-US" sz="1000" dirty="0">
                <a:solidFill>
                  <a:schemeClr val="bg1">
                    <a:lumMod val="50000"/>
                  </a:schemeClr>
                </a:solidFill>
              </a:rPr>
              <a:t>Photo: REUTERS/Carlos Barria February 24, 2022</a:t>
            </a:r>
          </a:p>
        </p:txBody>
      </p:sp>
    </p:spTree>
    <p:extLst>
      <p:ext uri="{BB962C8B-B14F-4D97-AF65-F5344CB8AC3E}">
        <p14:creationId xmlns:p14="http://schemas.microsoft.com/office/powerpoint/2010/main" val="1833872861"/>
      </p:ext>
    </p:extLst>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8A6B2C9B-DBFE-3846-9F9F-E2CD9900826C}" vid="{680FA9D2-4CD4-F145-8A3E-6DB78AC558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2025-PGT-Finalists_Template</Template>
  <TotalTime>439</TotalTime>
  <Words>1747</Words>
  <Application>Microsoft Office PowerPoint</Application>
  <PresentationFormat>Widescreen</PresentationFormat>
  <Paragraphs>101</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Franklin Gothic Book</vt:lpstr>
      <vt:lpstr>Franklin Gothic Medium</vt:lpstr>
      <vt:lpstr>Office Theme</vt:lpstr>
      <vt:lpstr>The Signaling Gap: State-Owned Media and the Strategic Management of Sentiment during the Russian Invasion of Ukraine</vt:lpstr>
      <vt:lpstr>The Bind</vt:lpstr>
      <vt:lpstr>The Hidden Channel</vt:lpstr>
      <vt:lpstr>The Gap</vt:lpstr>
      <vt:lpstr>Why the Signal Works</vt:lpstr>
      <vt:lpstr>Data &amp; Design</vt:lpstr>
      <vt:lpstr>The Shock The invasion produced a sharp negative shock across all media.</vt:lpstr>
      <vt:lpstr>State Media is Different State media responded less negatively than independent media.</vt:lpstr>
      <vt:lpstr>Two Predictions</vt:lpstr>
      <vt:lpstr>The Counterintuitive Finding Russia's allies went more negative — not less.</vt:lpstr>
      <vt:lpstr>The Counterintuitive Finding Russia's allies went more negative — not less.</vt:lpstr>
      <vt:lpstr>Beyond International Relations</vt:lpstr>
      <vt:lpstr>Thank You Donald Moratz dmoratz@sas.upenn.edu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Nicolais, Chelsea E.</dc:creator>
  <cp:lastModifiedBy>Moratz, Donald</cp:lastModifiedBy>
  <cp:revision>16</cp:revision>
  <cp:lastPrinted>2026-03-25T19:24:18Z</cp:lastPrinted>
  <dcterms:created xsi:type="dcterms:W3CDTF">2026-02-24T20:40:23Z</dcterms:created>
  <dcterms:modified xsi:type="dcterms:W3CDTF">2026-03-25T20:52:18Z</dcterms:modified>
</cp:coreProperties>
</file>