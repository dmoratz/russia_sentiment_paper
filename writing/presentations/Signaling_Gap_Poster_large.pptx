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38404800" cy="32918400"/>
  <p:notesSz cx="7315200" cy="96012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3" d="100"/>
          <a:sy n="23" d="100"/>
        </p:scale>
        <p:origin x="148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389424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21680" tIns="10840" rIns="21680" bIns="10840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21680" tIns="10840" rIns="21680" bIns="10840"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assets/bg_gradi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38404800" cy="329184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37307520" cy="2788920"/>
          </a:xfrm>
          <a:prstGeom prst="roundRect">
            <a:avLst>
              <a:gd name="adj" fmla="val 4918"/>
            </a:avLst>
          </a:prstGeom>
          <a:solidFill>
            <a:srgbClr val="FFFFFF"/>
          </a:solidFill>
          <a:ln w="508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1" descr="assets/pen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" y="822960"/>
            <a:ext cx="1892808" cy="2148840"/>
          </a:xfrm>
          <a:prstGeom prst="rect">
            <a:avLst/>
          </a:prstGeom>
        </p:spPr>
      </p:pic>
      <p:pic>
        <p:nvPicPr>
          <p:cNvPr id="5" name="Image 2" descr="assets/penn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60432" y="822960"/>
            <a:ext cx="1892808" cy="214884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3264408" y="640080"/>
            <a:ext cx="31875984" cy="2514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6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Signaling Gap</a:t>
            </a:r>
            <a:endParaRPr lang="en-US" sz="6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4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State-Owned Media and the Strategic Management of Sentiment during the Russian Invasion of Ukraine</a:t>
            </a:r>
            <a:endParaRPr lang="en-US" sz="60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36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Donald Moratz  and  Sarah Gerstein      ·      dmoratz@sas.upenn.edu</a:t>
            </a:r>
            <a:endParaRPr lang="en-US" sz="6000" dirty="0"/>
          </a:p>
        </p:txBody>
      </p:sp>
      <p:sp>
        <p:nvSpPr>
          <p:cNvPr id="7" name="Shape 2"/>
          <p:cNvSpPr/>
          <p:nvPr/>
        </p:nvSpPr>
        <p:spPr>
          <a:xfrm>
            <a:off x="548640" y="3703320"/>
            <a:ext cx="12134088" cy="6766560"/>
          </a:xfrm>
          <a:prstGeom prst="roundRect">
            <a:avLst>
              <a:gd name="adj" fmla="val 2027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3"/>
          <p:cNvSpPr/>
          <p:nvPr/>
        </p:nvSpPr>
        <p:spPr>
          <a:xfrm>
            <a:off x="548640" y="390448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</a:t>
            </a:r>
            <a:endParaRPr lang="en-US" sz="4400" dirty="0"/>
          </a:p>
        </p:txBody>
      </p:sp>
      <p:sp>
        <p:nvSpPr>
          <p:cNvPr id="9" name="Text 4"/>
          <p:cNvSpPr/>
          <p:nvPr/>
        </p:nvSpPr>
        <p:spPr>
          <a:xfrm>
            <a:off x="1005840" y="4846320"/>
            <a:ext cx="11219688" cy="5440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commitments enable cooperation but can foreclose dissent: a state bound to a patron cannot openly break with it without risking its security guarantee. We argue state-owned media is an institutionally mediated channel — public enough for the foreign governments that monitor it to read, but not a formal act of state.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Across 174,094 articles from 11 countries around the 2022 invasion of Ukraine, states with Russian security agreements shifted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negative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toward Russia than neutral states — even while refusing to condemn it through formal channels. We measure sentiment with a prompted large language model and identify the shift with a regression discontinuity.</a:t>
            </a:r>
            <a:endParaRPr lang="en-US" sz="2800" dirty="0"/>
          </a:p>
        </p:txBody>
      </p:sp>
      <p:sp>
        <p:nvSpPr>
          <p:cNvPr id="10" name="Shape 5"/>
          <p:cNvSpPr/>
          <p:nvPr/>
        </p:nvSpPr>
        <p:spPr>
          <a:xfrm>
            <a:off x="548640" y="10927080"/>
            <a:ext cx="12134088" cy="9326880"/>
          </a:xfrm>
          <a:prstGeom prst="roundRect">
            <a:avLst>
              <a:gd name="adj" fmla="val 1471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6"/>
          <p:cNvSpPr/>
          <p:nvPr/>
        </p:nvSpPr>
        <p:spPr>
          <a:xfrm>
            <a:off x="548640" y="1112824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Argument</a:t>
            </a:r>
            <a:endParaRPr lang="en-US" sz="4400" dirty="0"/>
          </a:p>
        </p:txBody>
      </p:sp>
      <p:sp>
        <p:nvSpPr>
          <p:cNvPr id="12" name="Text 7"/>
          <p:cNvSpPr/>
          <p:nvPr/>
        </p:nvSpPr>
        <p:spPr>
          <a:xfrm>
            <a:off x="1005840" y="12070080"/>
            <a:ext cx="11219688" cy="8001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bind.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A state that depends on a patron for its security can't openly break with it without risking the guarantee it relies on — yet silence risks being lumped in with the patron.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channel we test: state media.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 state owns these outlets, so their coverage is a controlled choice, not an independent press responding to the market.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Why it works as a signal.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Readable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foreign analysts monitor state outlets and treat them as regime-controlled, so a turn against Russia reads as a deliberate signal. </a:t>
            </a:r>
            <a:r>
              <a:rPr lang="en-US" sz="2800" i="1" dirty="0">
                <a:latin typeface="Arial" panose="020B0604020202020204" pitchFamily="34" charset="0"/>
                <a:cs typeface="Arial" panose="020B0604020202020204" pitchFamily="34" charset="0"/>
              </a:rPr>
              <a:t>Costly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— negative coverage of a security patron risks provoking retaliation, so it's hard to fake.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calculus.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Signaling risks retaliation; silence risks being categorized with the aggressor. Because diplomatic isolation is the greater cost, sending the signal is rational — and the logic travels to any patron–client hierarchy.</a:t>
            </a:r>
          </a:p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The rival account.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The dominant view treats state media as managing domestic opinion, not signaling outsiders — so a constrained state should mute criticism of its patron, not amplify it. The two accounts predict opposite shifts.</a:t>
            </a:r>
          </a:p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endParaRPr lang="en-US" sz="2800" dirty="0"/>
          </a:p>
        </p:txBody>
      </p:sp>
      <p:sp>
        <p:nvSpPr>
          <p:cNvPr id="13" name="Shape 8"/>
          <p:cNvSpPr/>
          <p:nvPr/>
        </p:nvSpPr>
        <p:spPr>
          <a:xfrm>
            <a:off x="548640" y="20711160"/>
            <a:ext cx="12134088" cy="11658600"/>
          </a:xfrm>
          <a:prstGeom prst="roundRect">
            <a:avLst>
              <a:gd name="adj" fmla="val 1176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9"/>
          <p:cNvSpPr/>
          <p:nvPr/>
        </p:nvSpPr>
        <p:spPr>
          <a:xfrm>
            <a:off x="548640" y="2091232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Hypotheses</a:t>
            </a:r>
            <a:endParaRPr lang="en-US" sz="4400" dirty="0"/>
          </a:p>
        </p:txBody>
      </p:sp>
      <p:sp>
        <p:nvSpPr>
          <p:cNvPr id="15" name="Text 10"/>
          <p:cNvSpPr/>
          <p:nvPr/>
        </p:nvSpPr>
        <p:spPr>
          <a:xfrm>
            <a:off x="1005840" y="22082760"/>
            <a:ext cx="112196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· Baseline shock —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invasion drove a region-wide negative shift toward Russia.</a:t>
            </a:r>
            <a:endParaRPr lang="en-US" sz="2800" dirty="0"/>
          </a:p>
          <a:p>
            <a:pPr marL="0" indent="0" algn="l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· Readability —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state media manages coverage more carefully than independent media.</a:t>
            </a:r>
            <a:endParaRPr lang="en-US" sz="2800" dirty="0"/>
          </a:p>
          <a:p>
            <a:pPr marL="0" indent="0" algn="l">
              <a:lnSpc>
                <a:spcPct val="112000"/>
              </a:lnSpc>
              <a:spcAft>
                <a:spcPts val="1600"/>
              </a:spcAft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· The Signal —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Alliance-constrained state media shifts more negative than neutral state media.</a:t>
            </a:r>
            <a:endParaRPr lang="en-US" sz="2800" dirty="0"/>
          </a:p>
        </p:txBody>
      </p:sp>
      <p:sp>
        <p:nvSpPr>
          <p:cNvPr id="16" name="Text 11"/>
          <p:cNvSpPr/>
          <p:nvPr/>
        </p:nvSpPr>
        <p:spPr>
          <a:xfrm>
            <a:off x="1005840" y="26380440"/>
            <a:ext cx="1121968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is where the two accounts split:</a:t>
            </a:r>
            <a:endParaRPr lang="en-US" sz="2800" dirty="0"/>
          </a:p>
        </p:txBody>
      </p:sp>
      <p:sp>
        <p:nvSpPr>
          <p:cNvPr id="17" name="Shape 12"/>
          <p:cNvSpPr/>
          <p:nvPr/>
        </p:nvSpPr>
        <p:spPr>
          <a:xfrm>
            <a:off x="1005840" y="27203400"/>
            <a:ext cx="5449824" cy="2834640"/>
          </a:xfrm>
          <a:prstGeom prst="roundRect">
            <a:avLst>
              <a:gd name="adj" fmla="val 3871"/>
            </a:avLst>
          </a:prstGeom>
          <a:solidFill>
            <a:srgbClr val="F2F2F2"/>
          </a:solidFill>
          <a:ln w="15875">
            <a:solidFill>
              <a:srgbClr val="B9B9B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1261872" y="2743200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Domestic management</a:t>
            </a:r>
            <a:endParaRPr lang="en-US" sz="2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Suppress coverage →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less negative</a:t>
            </a:r>
            <a:endParaRPr lang="en-US" sz="2800" dirty="0"/>
          </a:p>
        </p:txBody>
      </p:sp>
      <p:sp>
        <p:nvSpPr>
          <p:cNvPr id="19" name="Shape 14"/>
          <p:cNvSpPr/>
          <p:nvPr/>
        </p:nvSpPr>
        <p:spPr>
          <a:xfrm>
            <a:off x="6775704" y="27203400"/>
            <a:ext cx="5449824" cy="2834640"/>
          </a:xfrm>
          <a:prstGeom prst="roundRect">
            <a:avLst>
              <a:gd name="adj" fmla="val 3871"/>
            </a:avLst>
          </a:prstGeom>
          <a:solidFill>
            <a:srgbClr val="F7F1F0"/>
          </a:solidFill>
          <a:ln w="15875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5"/>
          <p:cNvSpPr/>
          <p:nvPr/>
        </p:nvSpPr>
        <p:spPr>
          <a:xfrm>
            <a:off x="7031736" y="27432000"/>
            <a:ext cx="49377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1000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Signaling (our account)</a:t>
            </a:r>
            <a:endParaRPr lang="en-US" sz="2800" dirty="0"/>
          </a:p>
          <a:p>
            <a:pPr marL="0" indent="0" algn="l">
              <a:lnSpc>
                <a:spcPct val="110000"/>
              </a:lnSpc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Signal via media →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predicts more negative</a:t>
            </a:r>
            <a:endParaRPr lang="en-US" sz="2800" dirty="0"/>
          </a:p>
        </p:txBody>
      </p:sp>
      <p:sp>
        <p:nvSpPr>
          <p:cNvPr id="21" name="Shape 16"/>
          <p:cNvSpPr/>
          <p:nvPr/>
        </p:nvSpPr>
        <p:spPr>
          <a:xfrm>
            <a:off x="1005840" y="30861000"/>
            <a:ext cx="11219688" cy="1051560"/>
          </a:xfrm>
          <a:prstGeom prst="roundRect">
            <a:avLst>
              <a:gd name="adj" fmla="val 8696"/>
            </a:avLst>
          </a:prstGeom>
          <a:solidFill>
            <a:srgbClr val="902F2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17"/>
          <p:cNvSpPr/>
          <p:nvPr/>
        </p:nvSpPr>
        <p:spPr>
          <a:xfrm>
            <a:off x="1005840" y="30861000"/>
            <a:ext cx="11219688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Data:  </a:t>
            </a: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shifts </a:t>
            </a: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negative   ✓   signaling, not suppression</a:t>
            </a:r>
            <a:endParaRPr lang="en-US" sz="2800" dirty="0"/>
          </a:p>
        </p:txBody>
      </p:sp>
      <p:sp>
        <p:nvSpPr>
          <p:cNvPr id="23" name="Shape 18"/>
          <p:cNvSpPr/>
          <p:nvPr/>
        </p:nvSpPr>
        <p:spPr>
          <a:xfrm>
            <a:off x="13139928" y="3703320"/>
            <a:ext cx="12134088" cy="6035040"/>
          </a:xfrm>
          <a:prstGeom prst="roundRect">
            <a:avLst>
              <a:gd name="adj" fmla="val 2273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19"/>
          <p:cNvSpPr/>
          <p:nvPr/>
        </p:nvSpPr>
        <p:spPr>
          <a:xfrm>
            <a:off x="13139928" y="390448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Case: Why the 2022 Invasion</a:t>
            </a:r>
            <a:endParaRPr lang="en-US" sz="4400" dirty="0"/>
          </a:p>
        </p:txBody>
      </p:sp>
      <p:sp>
        <p:nvSpPr>
          <p:cNvPr id="25" name="Text 20"/>
          <p:cNvSpPr/>
          <p:nvPr/>
        </p:nvSpPr>
        <p:spPr>
          <a:xfrm>
            <a:off x="13597128" y="4864331"/>
            <a:ext cx="11219688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clean test needs three things, and February 24, 2022 supplies all three: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discrete shock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a sharp rupture in the information environment, not a slow slide.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Alliance constraints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states bound to Russia (CSTO + Azerbaijan) vs. neutral states with open channels.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Competing predictions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domestic-management and signaling disagree on which group shifts more.</a:t>
            </a:r>
            <a:endParaRPr lang="en-US" sz="2800" dirty="0"/>
          </a:p>
        </p:txBody>
      </p:sp>
      <p:sp>
        <p:nvSpPr>
          <p:cNvPr id="26" name="Text 21"/>
          <p:cNvSpPr/>
          <p:nvPr/>
        </p:nvSpPr>
        <p:spPr>
          <a:xfrm>
            <a:off x="13597128" y="8760229"/>
            <a:ext cx="1121968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Russia-aligned: 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Armenia, Azerbaijan, Belarus, Kazakhstan</a:t>
            </a:r>
            <a:endParaRPr lang="en-US" sz="2400" dirty="0"/>
          </a:p>
          <a:p>
            <a:pPr marL="0" indent="0" algn="l">
              <a:lnSpc>
                <a:spcPct val="102000"/>
              </a:lnSpc>
              <a:spcAft>
                <a:spcPts val="400"/>
              </a:spcAft>
              <a:buNone/>
            </a:pPr>
            <a:r>
              <a:rPr lang="en-US" sz="2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Neutral:  </a:t>
            </a:r>
            <a:r>
              <a:rPr lang="en-US" sz="24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Georgia, Kosovo, Moldova, Serbia</a:t>
            </a:r>
            <a:endParaRPr lang="en-US" sz="2400" dirty="0"/>
          </a:p>
        </p:txBody>
      </p:sp>
      <p:sp>
        <p:nvSpPr>
          <p:cNvPr id="27" name="Shape 22"/>
          <p:cNvSpPr/>
          <p:nvPr/>
        </p:nvSpPr>
        <p:spPr>
          <a:xfrm>
            <a:off x="13139928" y="10058400"/>
            <a:ext cx="12134088" cy="9692640"/>
          </a:xfrm>
          <a:prstGeom prst="roundRect">
            <a:avLst>
              <a:gd name="adj" fmla="val 1415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3"/>
          <p:cNvSpPr/>
          <p:nvPr/>
        </p:nvSpPr>
        <p:spPr>
          <a:xfrm>
            <a:off x="13139928" y="1025956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&amp; Measurement</a:t>
            </a:r>
            <a:endParaRPr lang="en-US" sz="4400" dirty="0"/>
          </a:p>
        </p:txBody>
      </p:sp>
      <p:sp>
        <p:nvSpPr>
          <p:cNvPr id="29" name="Text 24"/>
          <p:cNvSpPr/>
          <p:nvPr/>
        </p:nvSpPr>
        <p:spPr>
          <a:xfrm>
            <a:off x="13597128" y="11247120"/>
            <a:ext cx="11219688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174,094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Russia-related articles, Aug 2021–Aug 2022; 11 countries, 61 sources (17 state-owned, 44 independent).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GPT-4o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codes sentiment toward Russia (−1 / 0 / +1) from each title and first two sentences. F1 = 0.92 vs. a 100-article human standard — with no −1↔+1 cross-codings, a conservative measure.</a:t>
            </a:r>
            <a:endParaRPr lang="en-US" sz="2800" dirty="0"/>
          </a:p>
        </p:txBody>
      </p:sp>
      <p:pic>
        <p:nvPicPr>
          <p:cNvPr id="30" name="Image 3" descr="assets/articles_over_tim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43532" y="13624560"/>
            <a:ext cx="9326880" cy="5596128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3597128" y="19293840"/>
            <a:ext cx="112196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Daily Russia-related articles by ownership; dashed line marks the Feb 24 invasion.</a:t>
            </a:r>
            <a:endParaRPr lang="en-US" sz="2000" dirty="0"/>
          </a:p>
        </p:txBody>
      </p:sp>
      <p:sp>
        <p:nvSpPr>
          <p:cNvPr id="32" name="Shape 26"/>
          <p:cNvSpPr/>
          <p:nvPr/>
        </p:nvSpPr>
        <p:spPr>
          <a:xfrm>
            <a:off x="13139928" y="20071080"/>
            <a:ext cx="12134088" cy="6949440"/>
          </a:xfrm>
          <a:prstGeom prst="roundRect">
            <a:avLst>
              <a:gd name="adj" fmla="val 1974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27"/>
          <p:cNvSpPr/>
          <p:nvPr/>
        </p:nvSpPr>
        <p:spPr>
          <a:xfrm>
            <a:off x="13139928" y="2027224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Methods Challenges</a:t>
            </a:r>
            <a:endParaRPr lang="en-US" sz="4400" dirty="0"/>
          </a:p>
        </p:txBody>
      </p:sp>
      <p:sp>
        <p:nvSpPr>
          <p:cNvPr id="34" name="Text 28"/>
          <p:cNvSpPr/>
          <p:nvPr/>
        </p:nvSpPr>
        <p:spPr>
          <a:xfrm>
            <a:off x="13597128" y="21259800"/>
            <a:ext cx="11219688" cy="5532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credible discontinuity design here — ultimately an RDID across groups — must clear three obstacles first: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Composition, not tone.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invasion changes what outlets cover, not just how. Topic is a collider, so we block topic, country, and ownership together via source-level control.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collinearity bind.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outlet sits in one group, so source fixed effects would absorb the very contrast we test. We z-score within source instead — the interaction stays estimable.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0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</a:t>
            </a: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Dates pile up.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Hundreds of articles share a date, creating mass points that break a time RDD. We use publication date-time as the running variable, imputing missing times per outlet.</a:t>
            </a:r>
            <a:endParaRPr lang="en-US" sz="2800" dirty="0"/>
          </a:p>
        </p:txBody>
      </p:sp>
      <p:sp>
        <p:nvSpPr>
          <p:cNvPr id="35" name="Shape 29"/>
          <p:cNvSpPr/>
          <p:nvPr/>
        </p:nvSpPr>
        <p:spPr>
          <a:xfrm>
            <a:off x="13139928" y="27340560"/>
            <a:ext cx="12134088" cy="5029200"/>
          </a:xfrm>
          <a:prstGeom prst="roundRect">
            <a:avLst>
              <a:gd name="adj" fmla="val 2727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0"/>
          <p:cNvSpPr/>
          <p:nvPr/>
        </p:nvSpPr>
        <p:spPr>
          <a:xfrm>
            <a:off x="13139928" y="2754172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Design</a:t>
            </a:r>
            <a:endParaRPr lang="en-US" sz="4400" dirty="0"/>
          </a:p>
        </p:txBody>
      </p:sp>
      <p:sp>
        <p:nvSpPr>
          <p:cNvPr id="37" name="Text 31"/>
          <p:cNvSpPr/>
          <p:nvPr/>
        </p:nvSpPr>
        <p:spPr>
          <a:xfrm>
            <a:off x="13597128" y="28446153"/>
            <a:ext cx="11219688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(within group).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RD at Feb 24 identifies the causal effect of the invasion on sentiment (rdrobust, MSE-optimal bandwidth).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800"/>
              </a:spcAft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/ H3 (across groups).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difference-in-discontinuities (RDID) compares how much more one group jumped at the cutoff:</a:t>
            </a:r>
            <a:endParaRPr lang="en-US" sz="2800" dirty="0"/>
          </a:p>
        </p:txBody>
      </p:sp>
      <p:pic>
        <p:nvPicPr>
          <p:cNvPr id="38" name="Image 4" descr="assets/rdid_equa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156994" y="30495240"/>
            <a:ext cx="10232024" cy="380390"/>
          </a:xfrm>
          <a:prstGeom prst="rect">
            <a:avLst/>
          </a:prstGeom>
        </p:spPr>
      </p:pic>
      <p:sp>
        <p:nvSpPr>
          <p:cNvPr id="39" name="Text 32"/>
          <p:cNvSpPr/>
          <p:nvPr/>
        </p:nvSpPr>
        <p:spPr>
          <a:xfrm>
            <a:off x="13597128" y="30988462"/>
            <a:ext cx="1121968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β5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(T × G) is the differential discontinuity — causal within each group, but </a:t>
            </a:r>
            <a:r>
              <a:rPr lang="en-US" sz="2800" i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conditional on group membership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across groups (stress-tested, not a causal effect of alignment).</a:t>
            </a:r>
            <a:endParaRPr lang="en-US" sz="2800" dirty="0"/>
          </a:p>
        </p:txBody>
      </p:sp>
      <p:sp>
        <p:nvSpPr>
          <p:cNvPr id="40" name="Shape 33"/>
          <p:cNvSpPr/>
          <p:nvPr/>
        </p:nvSpPr>
        <p:spPr>
          <a:xfrm>
            <a:off x="25722072" y="3703320"/>
            <a:ext cx="12134088" cy="14904720"/>
          </a:xfrm>
          <a:prstGeom prst="roundRect">
            <a:avLst>
              <a:gd name="adj" fmla="val 1130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4"/>
          <p:cNvSpPr/>
          <p:nvPr/>
        </p:nvSpPr>
        <p:spPr>
          <a:xfrm>
            <a:off x="25722072" y="390448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Results</a:t>
            </a:r>
            <a:endParaRPr lang="en-US" sz="4400" dirty="0"/>
          </a:p>
        </p:txBody>
      </p:sp>
      <p:sp>
        <p:nvSpPr>
          <p:cNvPr id="42" name="Text 35"/>
          <p:cNvSpPr/>
          <p:nvPr/>
        </p:nvSpPr>
        <p:spPr>
          <a:xfrm>
            <a:off x="26179272" y="4937760"/>
            <a:ext cx="11219688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H1 — A real shock.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Sentiment toward Russia fell 0.22 SD at the cutoff (p &lt; 0.001); 0.18 SD without military coverage.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H2 — State media holds the line.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media fell 0.21 SD; state-owned only 0.11 SD. RDID interaction 0.22 (p &lt; 0.05) among non-NATO outlets.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902F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H3 — Constrained states signaled loudest.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Russia-aligned state media fell −0.22 SD (p &lt; 0.05); neutral barely moved (−0.06, n.s.). Matched estimate −0.38 (p&lt;0.05) — the opposite of the domestic-management prediction.</a:t>
            </a:r>
            <a:endParaRPr lang="en-US" sz="2800" dirty="0"/>
          </a:p>
        </p:txBody>
      </p:sp>
      <p:pic>
        <p:nvPicPr>
          <p:cNvPr id="43" name="Image 5" descr="assets/results_hero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56996" y="10104120"/>
            <a:ext cx="11064240" cy="7744968"/>
          </a:xfrm>
          <a:prstGeom prst="rect">
            <a:avLst/>
          </a:prstGeom>
        </p:spPr>
      </p:pic>
      <p:sp>
        <p:nvSpPr>
          <p:cNvPr id="44" name="Text 36"/>
          <p:cNvSpPr/>
          <p:nvPr/>
        </p:nvSpPr>
        <p:spPr>
          <a:xfrm>
            <a:off x="26179272" y="18059400"/>
            <a:ext cx="11219688" cy="38404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Russia-aligned drops sharply at the cutoff; neutral stays flat.</a:t>
            </a:r>
            <a:endParaRPr lang="en-US" sz="2000" dirty="0"/>
          </a:p>
        </p:txBody>
      </p:sp>
      <p:sp>
        <p:nvSpPr>
          <p:cNvPr id="45" name="Shape 37"/>
          <p:cNvSpPr/>
          <p:nvPr/>
        </p:nvSpPr>
        <p:spPr>
          <a:xfrm>
            <a:off x="25722072" y="18973800"/>
            <a:ext cx="12134088" cy="4846320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38"/>
          <p:cNvSpPr/>
          <p:nvPr/>
        </p:nvSpPr>
        <p:spPr>
          <a:xfrm>
            <a:off x="25722072" y="1917496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Robustness</a:t>
            </a:r>
            <a:endParaRPr lang="en-US" sz="4400" dirty="0"/>
          </a:p>
        </p:txBody>
      </p:sp>
      <p:sp>
        <p:nvSpPr>
          <p:cNvPr id="47" name="Text 39"/>
          <p:cNvSpPr/>
          <p:nvPr/>
        </p:nvSpPr>
        <p:spPr>
          <a:xfrm>
            <a:off x="26179272" y="20116800"/>
            <a:ext cx="11219688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(Cinelli–Hazlett).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confounder would need to be 1.5× as strongly associated with sentiment as the invasion itself to erase the H3 differential.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Placebo + ethnic partition.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discontinuity at the Dec 7 announcement; splitting by ethnic-Russian share yields no differential.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b="1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Few-cluster inference.  </a:t>
            </a: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only ~13 clusters in the state-media test, a wild cluster restricted bootstrap (Webb weights) leaves the H3 differential intact.</a:t>
            </a:r>
            <a:endParaRPr lang="en-US" sz="2800" dirty="0"/>
          </a:p>
        </p:txBody>
      </p:sp>
      <p:sp>
        <p:nvSpPr>
          <p:cNvPr id="48" name="Shape 40"/>
          <p:cNvSpPr/>
          <p:nvPr/>
        </p:nvSpPr>
        <p:spPr>
          <a:xfrm>
            <a:off x="25722072" y="24185880"/>
            <a:ext cx="12134088" cy="4892040"/>
          </a:xfrm>
          <a:prstGeom prst="roundRect">
            <a:avLst>
              <a:gd name="adj" fmla="val 2804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1"/>
          <p:cNvSpPr/>
          <p:nvPr/>
        </p:nvSpPr>
        <p:spPr>
          <a:xfrm>
            <a:off x="25722072" y="2438704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400" dirty="0"/>
          </a:p>
        </p:txBody>
      </p:sp>
      <p:sp>
        <p:nvSpPr>
          <p:cNvPr id="50" name="Text 42"/>
          <p:cNvSpPr/>
          <p:nvPr/>
        </p:nvSpPr>
        <p:spPr>
          <a:xfrm>
            <a:off x="26179272" y="25328880"/>
            <a:ext cx="11219688" cy="3520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Connects patron–client theory and IR signaling — constrained clients use managed media to signal divergence from a patron.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Controlled-media sentiment is a deliberate signal of alignment toward a security partner — not a byproduct of domestic opinion.</a:t>
            </a:r>
            <a:endParaRPr lang="en-US" sz="2800" dirty="0"/>
          </a:p>
          <a:p>
            <a:pPr marL="0" indent="0" algn="l">
              <a:lnSpc>
                <a:spcPct val="102000"/>
              </a:lnSpc>
              <a:spcAft>
                <a:spcPts val="1200"/>
              </a:spcAft>
              <a:buNone/>
            </a:pPr>
            <a:r>
              <a:rPr lang="en-US" sz="28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Validates a long-standing intelligence practice — reading state media for regime preferences — long left unexamined.</a:t>
            </a:r>
            <a:endParaRPr lang="en-US" sz="2800" dirty="0"/>
          </a:p>
        </p:txBody>
      </p:sp>
      <p:sp>
        <p:nvSpPr>
          <p:cNvPr id="51" name="Shape 43"/>
          <p:cNvSpPr/>
          <p:nvPr/>
        </p:nvSpPr>
        <p:spPr>
          <a:xfrm>
            <a:off x="25722072" y="29443680"/>
            <a:ext cx="12134088" cy="2926080"/>
          </a:xfrm>
          <a:prstGeom prst="roundRect">
            <a:avLst>
              <a:gd name="adj" fmla="val 4688"/>
            </a:avLst>
          </a:prstGeom>
          <a:solidFill>
            <a:srgbClr val="FFFFFF"/>
          </a:solidFill>
          <a:ln w="38100">
            <a:solidFill>
              <a:srgbClr val="902F2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4"/>
          <p:cNvSpPr/>
          <p:nvPr/>
        </p:nvSpPr>
        <p:spPr>
          <a:xfrm>
            <a:off x="25722072" y="29644848"/>
            <a:ext cx="1213408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References</a:t>
            </a:r>
            <a:endParaRPr lang="en-US" sz="4400" dirty="0"/>
          </a:p>
        </p:txBody>
      </p:sp>
      <p:sp>
        <p:nvSpPr>
          <p:cNvPr id="53" name="Text 45"/>
          <p:cNvSpPr/>
          <p:nvPr/>
        </p:nvSpPr>
        <p:spPr>
          <a:xfrm>
            <a:off x="26179272" y="30540960"/>
            <a:ext cx="11219688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Cohen (1987). Theatre of Power. Longman.</a:t>
            </a:r>
            <a:endParaRPr lang="en-US" sz="2000" dirty="0"/>
          </a:p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Fearon (1997). Signaling Foreign Policy Interests. JCR 41(1).</a:t>
            </a:r>
            <a:endParaRPr lang="en-US" sz="2000" dirty="0"/>
          </a:p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Grembi, Nannicini &amp; Troiano (2016). Do Fiscal Rules Matter? AEJ: Applied 8(3).</a:t>
            </a:r>
            <a:endParaRPr lang="en-US" sz="2000" dirty="0"/>
          </a:p>
          <a:p>
            <a:pPr marL="0" indent="0" algn="l">
              <a:lnSpc>
                <a:spcPct val="125000"/>
              </a:lnSpc>
              <a:spcAft>
                <a:spcPts val="800"/>
              </a:spcAft>
              <a:buNone/>
            </a:pPr>
            <a:r>
              <a:rPr lang="en-US" sz="2000" dirty="0">
                <a:solidFill>
                  <a:srgbClr val="22222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Cinelli &amp; Hazlett (2020). Making Sense of Sensitivity. JRSS-B 82(1).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5402</TotalTime>
  <Words>1129</Words>
  <Application>Microsoft Office PowerPoint</Application>
  <PresentationFormat>Custom</PresentationFormat>
  <Paragraphs>61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Moratz, Donald</cp:lastModifiedBy>
  <cp:revision>4</cp:revision>
  <cp:lastPrinted>2026-07-07T21:56:03Z</cp:lastPrinted>
  <dcterms:created xsi:type="dcterms:W3CDTF">2026-07-06T20:26:07Z</dcterms:created>
  <dcterms:modified xsi:type="dcterms:W3CDTF">2026-07-10T15:02:36Z</dcterms:modified>
</cp:coreProperties>
</file>