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8404800" cy="32918400"/>
  <p:notesSz cx="32918400" cy="3840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3" d="100"/>
          <a:sy n="23" d="100"/>
        </p:scale>
        <p:origin x="20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98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73075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508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pen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822960"/>
            <a:ext cx="1890721" cy="2148840"/>
          </a:xfrm>
          <a:prstGeom prst="rect">
            <a:avLst/>
          </a:prstGeom>
        </p:spPr>
      </p:pic>
      <p:pic>
        <p:nvPicPr>
          <p:cNvPr id="4" name="Image 1" descr="assets/pen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519" y="822960"/>
            <a:ext cx="1890721" cy="2148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62321" y="640080"/>
            <a:ext cx="3188015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Signaling Gap</a:t>
            </a:r>
            <a:endParaRPr lang="en-US" sz="600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4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State-Owned Media and the Strategic Management of Sentiment during the Russian Invasion of Ukraine</a:t>
            </a:r>
            <a:endParaRPr lang="en-US" sz="400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Donald Moratz  and  Sarah Gerstein      ·      dmoratz@sas.upenn.edu</a:t>
            </a:r>
            <a:endParaRPr lang="en-US" sz="8000" dirty="0"/>
          </a:p>
        </p:txBody>
      </p:sp>
      <p:sp>
        <p:nvSpPr>
          <p:cNvPr id="6" name="Shape 2"/>
          <p:cNvSpPr/>
          <p:nvPr/>
        </p:nvSpPr>
        <p:spPr>
          <a:xfrm>
            <a:off x="548640" y="3703320"/>
            <a:ext cx="12131040" cy="64922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390448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1005840" y="4956048"/>
            <a:ext cx="11216640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commitments enable cooperation but can foreclose dissent: a state bound to a patron cannot openly break with it without risking its security guarantee. We argue state-owned media is an institutionally mediated channel — public enough for the foreign governments that monitor it to read, but not a formal act of state.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174,094 articles from 11 countries around the 2022 invasion of Ukraine, states with Russian security agreements shifted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toward Russia than neutral states — even while refusing to condemn it through formal channels. We measure sentiment with a prompted large language model and identify the shift with a regression discontinuity.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548640" y="10652760"/>
            <a:ext cx="12131040" cy="80467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10770800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1005840" y="11739232"/>
            <a:ext cx="11216640" cy="6519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bind.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 dependent on a patron cannot openly dissent without risking the guarantee it relies on — yet silence risks being lumped in with the patron.</a:t>
            </a:r>
            <a:endParaRPr lang="en-US" sz="2800" dirty="0"/>
          </a:p>
          <a:p>
            <a:pPr marL="0" indent="0"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channels, one gap.</a:t>
            </a:r>
            <a:endParaRPr lang="en-US" sz="2800" dirty="0"/>
          </a:p>
          <a:p>
            <a:pPr marL="685800" lvl="1" indent="-342900" algn="l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channels (UN votes) are credible but costly — unusable under a patron's threat.</a:t>
            </a:r>
            <a:endParaRPr lang="en-US" sz="2800" dirty="0"/>
          </a:p>
          <a:p>
            <a:pPr marL="685800" lvl="1" indent="-342900" algn="l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diplomacy is safe but unverifiable — cheap talk.</a:t>
            </a:r>
            <a:endParaRPr lang="en-US" sz="2800" dirty="0"/>
          </a:p>
          <a:p>
            <a:pPr marL="685800" lvl="1" indent="-3429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media sits between: observable, but not a formal act of state.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credible.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(long read as regime preference), costly (negative coverage risks provoking the patron), and buffered (editorial separation keeps it below a formal break).</a:t>
            </a:r>
            <a:endParaRPr lang="en-US" sz="2800" dirty="0"/>
          </a:p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calculus.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risks retaliation\; silence risks being categorized with the aggressor. However, the higher costs associated with diplomatic isolation makes sending the signal rational, and the logic should travel to any patron–client hierarchy.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548640" y="19156680"/>
            <a:ext cx="12131040" cy="13213080"/>
          </a:xfrm>
          <a:prstGeom prst="roundRect">
            <a:avLst>
              <a:gd name="adj" fmla="val 1206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1935784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Case: Why the 2022 Invasion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1005840" y="20409408"/>
            <a:ext cx="11216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test needs three things, and February 24, 2022 supplies all three:</a:t>
            </a:r>
            <a:endParaRPr lang="en-US" sz="28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 shock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sharp rupture in the information environment, not a slow slide.</a:t>
            </a:r>
            <a:endParaRPr lang="en-US" sz="28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constraint structure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states bound to Russia (CSTO + Azerbaijan) vs. neutral states with open channels.</a:t>
            </a:r>
            <a:endParaRPr lang="en-US" sz="28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predictions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domestic-management and signaling disagree on which group shifts more.</a:t>
            </a:r>
            <a:endParaRPr lang="en-US" sz="2800" dirty="0"/>
          </a:p>
        </p:txBody>
      </p:sp>
      <p:pic>
        <p:nvPicPr>
          <p:cNvPr id="15" name="Image 2" descr="assets/fig_reg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028" y="24249888"/>
            <a:ext cx="10035540" cy="80284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3136880" y="3703320"/>
            <a:ext cx="12131040" cy="80467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13136880" y="390448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13594080" y="4956048"/>
            <a:ext cx="1121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Baseline shock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invasion drove a region-wide negative shift toward Russia.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Readability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media manages coverage more carefully than independent media.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The signal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shifts more negative than neutral state media.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13594080" y="8019288"/>
            <a:ext cx="1121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pits the two accounts head-to-head: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13594080" y="8567928"/>
            <a:ext cx="5448300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5875">
            <a:solidFill>
              <a:srgbClr val="B9B9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3850112" y="8750808"/>
            <a:ext cx="49362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management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 coverage →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less negative</a:t>
            </a:r>
            <a:endParaRPr lang="en-US" sz="2800" dirty="0"/>
          </a:p>
        </p:txBody>
      </p:sp>
      <p:sp>
        <p:nvSpPr>
          <p:cNvPr id="22" name="Shape 17"/>
          <p:cNvSpPr/>
          <p:nvPr/>
        </p:nvSpPr>
        <p:spPr>
          <a:xfrm>
            <a:off x="19362420" y="8567928"/>
            <a:ext cx="5448300" cy="1920240"/>
          </a:xfrm>
          <a:prstGeom prst="roundRect">
            <a:avLst>
              <a:gd name="adj" fmla="val 4762"/>
            </a:avLst>
          </a:prstGeom>
          <a:solidFill>
            <a:srgbClr val="F7F1F0"/>
          </a:solidFill>
          <a:ln w="15875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9618452" y="8750808"/>
            <a:ext cx="49362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(our account)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via media →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more negative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13594080" y="10716768"/>
            <a:ext cx="11216640" cy="822960"/>
          </a:xfrm>
          <a:prstGeom prst="roundRect">
            <a:avLst>
              <a:gd name="adj" fmla="val 11111"/>
            </a:avLst>
          </a:prstGeom>
          <a:solidFill>
            <a:srgbClr val="902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3868400" y="10716768"/>
            <a:ext cx="1066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 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  ✓   signaling, not suppression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13136880" y="12207240"/>
            <a:ext cx="12131040" cy="12481560"/>
          </a:xfrm>
          <a:prstGeom prst="roundRect">
            <a:avLst>
              <a:gd name="adj" fmla="val 1206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13136880" y="1240840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Measurement</a:t>
            </a:r>
            <a:endParaRPr lang="en-US" sz="4400" dirty="0"/>
          </a:p>
        </p:txBody>
      </p:sp>
      <p:sp>
        <p:nvSpPr>
          <p:cNvPr id="28" name="Text 23"/>
          <p:cNvSpPr/>
          <p:nvPr/>
        </p:nvSpPr>
        <p:spPr>
          <a:xfrm>
            <a:off x="13594080" y="13459968"/>
            <a:ext cx="11216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174,094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Russia-related articles, Aug 2021–Aug 2022; 11 countries, 61 sources (17 state-owned, 44 independent).</a:t>
            </a:r>
            <a:endParaRPr lang="en-US" sz="28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codes sentiment toward Russia (−1 / 0 / +1) from each title and first two sentences. F1 = 0.92 vs. a 100-article human standard — with no −1↔+1 cross-codings, a conservative measure.</a:t>
            </a:r>
            <a:endParaRPr lang="en-US" sz="2800" dirty="0"/>
          </a:p>
        </p:txBody>
      </p:sp>
      <p:pic>
        <p:nvPicPr>
          <p:cNvPr id="29" name="Image 3" descr="assets/fig_artic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16843248"/>
            <a:ext cx="10972800" cy="65836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594080" y="23445216"/>
            <a:ext cx="1121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Russia-related articles by ownership; dashed line marks the Feb 24 invasion.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13136880" y="25146000"/>
            <a:ext cx="12131040" cy="7223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13136880" y="2534716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4400" dirty="0"/>
          </a:p>
        </p:txBody>
      </p:sp>
      <p:sp>
        <p:nvSpPr>
          <p:cNvPr id="33" name="Text 27"/>
          <p:cNvSpPr/>
          <p:nvPr/>
        </p:nvSpPr>
        <p:spPr>
          <a:xfrm>
            <a:off x="13594080" y="26398728"/>
            <a:ext cx="11216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(within group).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RD at Feb 24 identifies the causal effect of the invasion on sentiment (rdrobust, MSE-optimal bandwidth).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H3 (across groups).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difference-in-discontinuities (RDID) compares how much more one group jumped at the cutoff:</a:t>
            </a:r>
            <a:endParaRPr lang="en-US" sz="2800" dirty="0"/>
          </a:p>
        </p:txBody>
      </p:sp>
      <p:pic>
        <p:nvPicPr>
          <p:cNvPr id="34" name="Image 4" descr="assets/eq_rd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8666440"/>
            <a:ext cx="10972800" cy="5486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594080" y="29578344"/>
            <a:ext cx="112166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β5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 × G) is the differential discontinuity — causal within each group, but </a:t>
            </a:r>
            <a:r>
              <a:rPr lang="en-US" sz="28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group membership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groups (stress-tested, not a causal effect of alignment).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Source-level Z-Score adjustments close country/ownership backdoors; topic FE absorb composition; WCR bootstrap handles the few clusters.</a:t>
            </a:r>
            <a:endParaRPr lang="en-US" sz="2800" dirty="0"/>
          </a:p>
        </p:txBody>
      </p:sp>
      <p:sp>
        <p:nvSpPr>
          <p:cNvPr id="36" name="Shape 29"/>
          <p:cNvSpPr/>
          <p:nvPr/>
        </p:nvSpPr>
        <p:spPr>
          <a:xfrm>
            <a:off x="25725120" y="3703320"/>
            <a:ext cx="12131040" cy="15361920"/>
          </a:xfrm>
          <a:prstGeom prst="roundRect">
            <a:avLst>
              <a:gd name="adj" fmla="val 1206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25725120" y="390448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400" dirty="0"/>
          </a:p>
        </p:txBody>
      </p:sp>
      <p:sp>
        <p:nvSpPr>
          <p:cNvPr id="38" name="Text 31"/>
          <p:cNvSpPr/>
          <p:nvPr/>
        </p:nvSpPr>
        <p:spPr>
          <a:xfrm>
            <a:off x="26182320" y="4956048"/>
            <a:ext cx="1121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A real shock.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toward Russia fell 0.22 SD at the cutoff (p &lt; 0.001); 0.18 SD without military coverage.</a:t>
            </a:r>
            <a:endParaRPr lang="en-US" sz="2800" dirty="0"/>
          </a:p>
        </p:txBody>
      </p:sp>
      <p:sp>
        <p:nvSpPr>
          <p:cNvPr id="39" name="Text 32"/>
          <p:cNvSpPr/>
          <p:nvPr/>
        </p:nvSpPr>
        <p:spPr>
          <a:xfrm>
            <a:off x="26182320" y="6099048"/>
            <a:ext cx="1121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State media holds the line.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media fell 0.21 SD; state-owned only 0.11 SD. RDID interaction 0.22 (p &lt; 0.05) among non-NATO outlets.</a:t>
            </a:r>
            <a:endParaRPr lang="en-US" sz="2800" dirty="0"/>
          </a:p>
        </p:txBody>
      </p:sp>
      <p:sp>
        <p:nvSpPr>
          <p:cNvPr id="40" name="Text 33"/>
          <p:cNvSpPr/>
          <p:nvPr/>
        </p:nvSpPr>
        <p:spPr>
          <a:xfrm>
            <a:off x="26182320" y="7607808"/>
            <a:ext cx="1121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Constrained states signaled loudest.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fell −0.22 SD (p &lt; 0.05); neutral barely moved (−0.06, n.s.). Matched estimate −0.38 (p&lt;0.05) — the opposite of domestic management prediction</a:t>
            </a:r>
            <a:endParaRPr lang="en-US" sz="2800" dirty="0"/>
          </a:p>
        </p:txBody>
      </p:sp>
      <p:pic>
        <p:nvPicPr>
          <p:cNvPr id="41" name="Image 5" descr="assets/fig_h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44320" y="9482328"/>
            <a:ext cx="9692640" cy="67848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6182320" y="16267176"/>
            <a:ext cx="1121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drops sharply at the cutoff; neutral stays flat.</a:t>
            </a:r>
            <a:endParaRPr lang="en-US" sz="2400" dirty="0"/>
          </a:p>
        </p:txBody>
      </p:sp>
      <p:sp>
        <p:nvSpPr>
          <p:cNvPr id="43" name="Shape 35"/>
          <p:cNvSpPr/>
          <p:nvPr/>
        </p:nvSpPr>
        <p:spPr>
          <a:xfrm>
            <a:off x="26182320" y="16770096"/>
            <a:ext cx="11216640" cy="1828800"/>
          </a:xfrm>
          <a:prstGeom prst="roundRect">
            <a:avLst>
              <a:gd name="adj" fmla="val 5000"/>
            </a:avLst>
          </a:prstGeom>
          <a:solidFill>
            <a:srgbClr val="F7F1F0"/>
          </a:solidFill>
          <a:ln w="127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26456640" y="16898112"/>
            <a:ext cx="10668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400" b="1" i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outlet's own words.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Armenia's state broadcaster, two months apart — January: Russia as an economic partner; March: ‘Russia walks out of the Council of Europe.’ Same outlet, opposite orientation — while Armenia withheld formal condemnation.</a:t>
            </a:r>
            <a:endParaRPr lang="en-US" sz="2400" dirty="0"/>
          </a:p>
        </p:txBody>
      </p:sp>
      <p:sp>
        <p:nvSpPr>
          <p:cNvPr id="45" name="Shape 37"/>
          <p:cNvSpPr/>
          <p:nvPr/>
        </p:nvSpPr>
        <p:spPr>
          <a:xfrm>
            <a:off x="25725120" y="19522440"/>
            <a:ext cx="1213104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25725120" y="1972360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4400" dirty="0"/>
          </a:p>
        </p:txBody>
      </p:sp>
      <p:sp>
        <p:nvSpPr>
          <p:cNvPr id="47" name="Text 39"/>
          <p:cNvSpPr/>
          <p:nvPr/>
        </p:nvSpPr>
        <p:spPr>
          <a:xfrm>
            <a:off x="26182320" y="20775168"/>
            <a:ext cx="112166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(Cinelli–Hazlett).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confounder would need to be 1.5× as strongly associated with sentiment as the invasion itself to erase the H3 differential.</a:t>
            </a:r>
            <a:endParaRPr lang="en-US" sz="28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 + ethnic partition.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discontinuity at the Dec 7 announcement; splitting by ethnic-Russian share yields no differential.</a:t>
            </a:r>
            <a:endParaRPr lang="en-US" sz="2800" dirty="0"/>
          </a:p>
        </p:txBody>
      </p:sp>
      <p:sp>
        <p:nvSpPr>
          <p:cNvPr id="48" name="Shape 40"/>
          <p:cNvSpPr/>
          <p:nvPr/>
        </p:nvSpPr>
        <p:spPr>
          <a:xfrm>
            <a:off x="25725120" y="24460200"/>
            <a:ext cx="1213104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25725120" y="2466136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0" name="Text 42"/>
          <p:cNvSpPr/>
          <p:nvPr/>
        </p:nvSpPr>
        <p:spPr>
          <a:xfrm>
            <a:off x="26182320" y="25712928"/>
            <a:ext cx="112166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patron–client theory and IR signaling — constrained clients use managed media to signal divergence from a patron.</a:t>
            </a:r>
            <a:endParaRPr lang="en-US" sz="2800" dirty="0"/>
          </a:p>
          <a:p>
            <a:pPr marL="342900" indent="-342900" algn="l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Controlled-media sentiment is a deliberate signal of alignment toward a security partner — not a byproduct of domestic opinion.</a:t>
            </a:r>
            <a:endParaRPr lang="en-US" sz="28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 long-standing intelligence practice — reading state media for regime preferences — long left unexamined.</a:t>
            </a:r>
            <a:endParaRPr lang="en-US" sz="2800" dirty="0"/>
          </a:p>
        </p:txBody>
      </p:sp>
      <p:sp>
        <p:nvSpPr>
          <p:cNvPr id="51" name="Shape 43"/>
          <p:cNvSpPr/>
          <p:nvPr/>
        </p:nvSpPr>
        <p:spPr>
          <a:xfrm>
            <a:off x="25725120" y="29397960"/>
            <a:ext cx="1213104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25725120" y="29599128"/>
            <a:ext cx="1213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4400" dirty="0"/>
          </a:p>
        </p:txBody>
      </p:sp>
      <p:sp>
        <p:nvSpPr>
          <p:cNvPr id="53" name="Text 45"/>
          <p:cNvSpPr/>
          <p:nvPr/>
        </p:nvSpPr>
        <p:spPr>
          <a:xfrm>
            <a:off x="26182320" y="30650688"/>
            <a:ext cx="112166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 (1987). Theatre of Power. Longman.</a:t>
            </a:r>
            <a:endParaRPr lang="en-US" sz="2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Fearon (1997). Signaling Foreign Policy Interests. JCR 41(1).</a:t>
            </a:r>
            <a:endParaRPr lang="en-US" sz="2000" dirty="0"/>
          </a:p>
          <a:p>
            <a:pPr marL="342900" indent="-342900" algn="l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Grembi, Nannicini &amp; Troiano (2016). Do Fiscal Rules Matter? AEJ: Applied 8(3).</a:t>
            </a:r>
            <a:endParaRPr lang="en-US" sz="2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Cinelli &amp; Hazlett (2020). Making Sense of Sensitivity. JRSS-B 82(1).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972</Words>
  <Application>Microsoft Office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Signaling Gap</dc:title>
  <dc:subject>PptxGenJS Presentation</dc:subject>
  <dc:creator>Donald Moratz</dc:creator>
  <cp:lastModifiedBy>Moratz, Donald</cp:lastModifiedBy>
  <cp:revision>2</cp:revision>
  <dcterms:created xsi:type="dcterms:W3CDTF">2026-07-01T22:03:30Z</dcterms:created>
  <dcterms:modified xsi:type="dcterms:W3CDTF">2026-07-01T22:22:10Z</dcterms:modified>
</cp:coreProperties>
</file>