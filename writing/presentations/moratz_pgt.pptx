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61" r:id="rId2"/>
    <p:sldId id="258" r:id="rId3"/>
    <p:sldId id="262" r:id="rId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87807" autoAdjust="0"/>
  </p:normalViewPr>
  <p:slideViewPr>
    <p:cSldViewPr snapToGrid="0">
      <p:cViewPr>
        <p:scale>
          <a:sx n="100" d="100"/>
          <a:sy n="100" d="100"/>
        </p:scale>
        <p:origin x="420"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6385E03-553C-42F6-8BB5-C1E592C8E0D5}" type="datetimeFigureOut">
              <a:rPr lang="en-US" smtClean="0"/>
              <a:t>3/25/2026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1963E9-DFCA-4928-813C-A5344C7ACC22}" type="slidenum">
              <a:rPr lang="en-US" smtClean="0"/>
              <a:t>‹#›</a:t>
            </a:fld>
            <a:endParaRPr lang="en-US"/>
          </a:p>
        </p:txBody>
      </p:sp>
    </p:spTree>
    <p:extLst>
      <p:ext uri="{BB962C8B-B14F-4D97-AF65-F5344CB8AC3E}">
        <p14:creationId xmlns:p14="http://schemas.microsoft.com/office/powerpoint/2010/main" val="20839315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Signaling Gap… February 24, 2022</a:t>
            </a:r>
          </a:p>
        </p:txBody>
      </p:sp>
      <p:sp>
        <p:nvSpPr>
          <p:cNvPr id="4" name="Slide Number Placeholder 3"/>
          <p:cNvSpPr>
            <a:spLocks noGrp="1"/>
          </p:cNvSpPr>
          <p:nvPr>
            <p:ph type="sldNum" sz="quarter" idx="5"/>
          </p:nvPr>
        </p:nvSpPr>
        <p:spPr/>
        <p:txBody>
          <a:bodyPr/>
          <a:lstStyle/>
          <a:p>
            <a:fld id="{CF1963E9-DFCA-4928-813C-A5344C7ACC22}" type="slidenum">
              <a:rPr lang="en-US" smtClean="0"/>
              <a:t>1</a:t>
            </a:fld>
            <a:endParaRPr lang="en-US"/>
          </a:p>
        </p:txBody>
      </p:sp>
    </p:spTree>
    <p:extLst>
      <p:ext uri="{BB962C8B-B14F-4D97-AF65-F5344CB8AC3E}">
        <p14:creationId xmlns:p14="http://schemas.microsoft.com/office/powerpoint/2010/main" val="40512871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you lead Kazakhstan. Russia — your treaty ally, your security guarantor — just launched the largest land war in Europe since World War II. You can't vote against them at the UN. You can't issue a public condemnation. But you have real economic ties with the West, and you need them to know you're not on board with this. What do you do?</a:t>
            </a:r>
          </a:p>
        </p:txBody>
      </p:sp>
      <p:sp>
        <p:nvSpPr>
          <p:cNvPr id="4" name="Slide Number Placeholder 3"/>
          <p:cNvSpPr>
            <a:spLocks noGrp="1"/>
          </p:cNvSpPr>
          <p:nvPr>
            <p:ph type="sldNum" sz="quarter" idx="5"/>
          </p:nvPr>
        </p:nvSpPr>
        <p:spPr/>
        <p:txBody>
          <a:bodyPr/>
          <a:lstStyle/>
          <a:p>
            <a:fld id="{CF1963E9-DFCA-4928-813C-A5344C7ACC22}" type="slidenum">
              <a:rPr lang="en-US" smtClean="0"/>
              <a:t>2</a:t>
            </a:fld>
            <a:endParaRPr lang="en-US"/>
          </a:p>
        </p:txBody>
      </p:sp>
    </p:spTree>
    <p:extLst>
      <p:ext uri="{BB962C8B-B14F-4D97-AF65-F5344CB8AC3E}">
        <p14:creationId xmlns:p14="http://schemas.microsoft.com/office/powerpoint/2010/main" val="8312446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you use your state media. Not a press conference, not a diplomatic cable — the news coverage itself. And here's the thing — this isn't a new trick. The BBC started systematically monitoring state media in 1939. The CIA followed in 1941. For the entire Cold War, Western analysts read Soviet and satellite state media not as journalism but as political text — shifts in tone meant shifts in policy. Academics have studied state media as a tool for controlling domestic audiences. Intelligence agencies have always read it as a window into what regimes actually think.</a:t>
            </a:r>
          </a:p>
        </p:txBody>
      </p:sp>
      <p:sp>
        <p:nvSpPr>
          <p:cNvPr id="4" name="Slide Number Placeholder 3"/>
          <p:cNvSpPr>
            <a:spLocks noGrp="1"/>
          </p:cNvSpPr>
          <p:nvPr>
            <p:ph type="sldNum" sz="quarter" idx="5"/>
          </p:nvPr>
        </p:nvSpPr>
        <p:spPr/>
        <p:txBody>
          <a:bodyPr/>
          <a:lstStyle/>
          <a:p>
            <a:fld id="{CF1963E9-DFCA-4928-813C-A5344C7ACC22}" type="slidenum">
              <a:rPr lang="en-US" smtClean="0"/>
              <a:t>3</a:t>
            </a:fld>
            <a:endParaRPr lang="en-US"/>
          </a:p>
        </p:txBody>
      </p:sp>
    </p:spTree>
    <p:extLst>
      <p:ext uri="{BB962C8B-B14F-4D97-AF65-F5344CB8AC3E}">
        <p14:creationId xmlns:p14="http://schemas.microsoft.com/office/powerpoint/2010/main" val="2585858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15545-2C0F-5074-D712-1B7A23B6B24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6189DEE-654F-D331-70D7-E4E3F39A745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8061803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6A5E68-AC95-DD9C-B31F-272D0CC7C7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911C697-7212-1C1E-EC5C-431508282F5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481521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9F9B8-B137-360F-6702-9CD837DF522E}"/>
              </a:ext>
            </a:extLst>
          </p:cNvPr>
          <p:cNvSpPr>
            <a:spLocks noGrp="1"/>
          </p:cNvSpPr>
          <p:nvPr>
            <p:ph type="title"/>
          </p:nvPr>
        </p:nvSpPr>
        <p:spPr>
          <a:xfrm>
            <a:off x="831850" y="605483"/>
            <a:ext cx="10515600" cy="2681413"/>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B3C69BD-2761-0D6E-28A1-23F1B7B4B059}"/>
              </a:ext>
            </a:extLst>
          </p:cNvPr>
          <p:cNvSpPr>
            <a:spLocks noGrp="1"/>
          </p:cNvSpPr>
          <p:nvPr>
            <p:ph type="body" idx="1"/>
          </p:nvPr>
        </p:nvSpPr>
        <p:spPr>
          <a:xfrm>
            <a:off x="838200" y="3286896"/>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29462523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7C3A42-BAD6-5753-C109-E893B222B57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9B56F24-AA0D-29B5-78BE-172794B4C7EB}"/>
              </a:ext>
            </a:extLst>
          </p:cNvPr>
          <p:cNvSpPr>
            <a:spLocks noGrp="1"/>
          </p:cNvSpPr>
          <p:nvPr>
            <p:ph sz="half" idx="1"/>
          </p:nvPr>
        </p:nvSpPr>
        <p:spPr>
          <a:xfrm>
            <a:off x="838200" y="1825625"/>
            <a:ext cx="5181600" cy="372255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AA04557-FDF6-2469-844B-E11BAC2B1869}"/>
              </a:ext>
            </a:extLst>
          </p:cNvPr>
          <p:cNvSpPr>
            <a:spLocks noGrp="1"/>
          </p:cNvSpPr>
          <p:nvPr>
            <p:ph sz="half" idx="2"/>
          </p:nvPr>
        </p:nvSpPr>
        <p:spPr>
          <a:xfrm>
            <a:off x="6172200" y="1825625"/>
            <a:ext cx="5181600" cy="372255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180120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93FB2-4AF6-957E-4C94-482D7FFD9D8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4F0DA5D-C6AB-FADF-9CDE-A540EF28396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480DFD2-FB6A-83EC-5296-E43BB1B8D90E}"/>
              </a:ext>
            </a:extLst>
          </p:cNvPr>
          <p:cNvSpPr>
            <a:spLocks noGrp="1"/>
          </p:cNvSpPr>
          <p:nvPr>
            <p:ph sz="half" idx="2"/>
          </p:nvPr>
        </p:nvSpPr>
        <p:spPr>
          <a:xfrm>
            <a:off x="839788" y="2505075"/>
            <a:ext cx="5157787" cy="30678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62243BF-7B77-E413-A82C-7695BE840E1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291224F-8240-6F09-EB76-EF185C7CD5A0}"/>
              </a:ext>
            </a:extLst>
          </p:cNvPr>
          <p:cNvSpPr>
            <a:spLocks noGrp="1"/>
          </p:cNvSpPr>
          <p:nvPr>
            <p:ph sz="quarter" idx="4"/>
          </p:nvPr>
        </p:nvSpPr>
        <p:spPr>
          <a:xfrm>
            <a:off x="6172200" y="2505075"/>
            <a:ext cx="5183188" cy="30678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096537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01493B-60C5-0BB7-0EC1-BD4CB8EE7BB8}"/>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7063381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8467240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A9D8C3-1C31-CC79-6D0C-03F559FA524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DBD1370-0B64-0AED-1533-4D6082ADF2C7}"/>
              </a:ext>
            </a:extLst>
          </p:cNvPr>
          <p:cNvSpPr>
            <a:spLocks noGrp="1"/>
          </p:cNvSpPr>
          <p:nvPr>
            <p:ph idx="1"/>
          </p:nvPr>
        </p:nvSpPr>
        <p:spPr>
          <a:xfrm>
            <a:off x="5183188" y="987426"/>
            <a:ext cx="6172200" cy="45484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8D2629-6A4D-A5EC-20D5-F96B6D28B236}"/>
              </a:ext>
            </a:extLst>
          </p:cNvPr>
          <p:cNvSpPr>
            <a:spLocks noGrp="1"/>
          </p:cNvSpPr>
          <p:nvPr>
            <p:ph type="body" sz="half" idx="2"/>
          </p:nvPr>
        </p:nvSpPr>
        <p:spPr>
          <a:xfrm>
            <a:off x="839788" y="2057400"/>
            <a:ext cx="3932237" cy="347842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30855217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7D52A-0ED6-3213-DDA5-16F40AB82E4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E03F7D9-7689-485C-2795-824B96F5D197}"/>
              </a:ext>
            </a:extLst>
          </p:cNvPr>
          <p:cNvSpPr>
            <a:spLocks noGrp="1"/>
          </p:cNvSpPr>
          <p:nvPr>
            <p:ph type="pic" idx="1"/>
          </p:nvPr>
        </p:nvSpPr>
        <p:spPr>
          <a:xfrm>
            <a:off x="5183188" y="987426"/>
            <a:ext cx="6172200" cy="451133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6E701FFE-7EFF-6F89-D719-EF570065CEB9}"/>
              </a:ext>
            </a:extLst>
          </p:cNvPr>
          <p:cNvSpPr>
            <a:spLocks noGrp="1"/>
          </p:cNvSpPr>
          <p:nvPr>
            <p:ph type="body" sz="half" idx="2"/>
          </p:nvPr>
        </p:nvSpPr>
        <p:spPr>
          <a:xfrm>
            <a:off x="839788" y="2057400"/>
            <a:ext cx="3932237" cy="344135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27577514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jp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1">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24CC63A-5556-B9FB-536A-543C307F12E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F532008-603C-9A0E-EDA4-D1FE3A106A2A}"/>
              </a:ext>
            </a:extLst>
          </p:cNvPr>
          <p:cNvSpPr>
            <a:spLocks noGrp="1"/>
          </p:cNvSpPr>
          <p:nvPr>
            <p:ph type="body" idx="1"/>
          </p:nvPr>
        </p:nvSpPr>
        <p:spPr>
          <a:xfrm>
            <a:off x="838200" y="1825625"/>
            <a:ext cx="10515600" cy="364841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911010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txStyles>
    <p:titleStyle>
      <a:lvl1pPr algn="l" defTabSz="914400" rtl="0" eaLnBrk="1" latinLnBrk="0" hangingPunct="1">
        <a:lnSpc>
          <a:spcPct val="90000"/>
        </a:lnSpc>
        <a:spcBef>
          <a:spcPct val="0"/>
        </a:spcBef>
        <a:buNone/>
        <a:defRPr sz="4400" kern="1200">
          <a:solidFill>
            <a:schemeClr val="accent1">
              <a:lumMod val="7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Ukrainian tanks move into the city, after Russian President Vladimir Putin authorized military operation in eastern Ukraine, in Mariupol">
            <a:extLst>
              <a:ext uri="{FF2B5EF4-FFF2-40B4-BE49-F238E27FC236}">
                <a16:creationId xmlns:a16="http://schemas.microsoft.com/office/drawing/2014/main" id="{596A573D-755F-3A64-C502-AB75E97597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24250" y="12700"/>
            <a:ext cx="8216900" cy="5477933"/>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Rounded Corners 1">
            <a:extLst>
              <a:ext uri="{FF2B5EF4-FFF2-40B4-BE49-F238E27FC236}">
                <a16:creationId xmlns:a16="http://schemas.microsoft.com/office/drawing/2014/main" id="{4E483639-7B0E-7B38-81CB-670D030CFF36}"/>
              </a:ext>
            </a:extLst>
          </p:cNvPr>
          <p:cNvSpPr/>
          <p:nvPr/>
        </p:nvSpPr>
        <p:spPr>
          <a:xfrm>
            <a:off x="1701800" y="-6350"/>
            <a:ext cx="10890250" cy="5556250"/>
          </a:xfrm>
          <a:prstGeom prst="roundRect">
            <a:avLst/>
          </a:prstGeom>
          <a:gradFill flip="none" rotWithShape="1">
            <a:gsLst>
              <a:gs pos="0">
                <a:schemeClr val="bg1"/>
              </a:gs>
              <a:gs pos="46000">
                <a:schemeClr val="bg1">
                  <a:alpha val="35000"/>
                </a:schemeClr>
              </a:gs>
              <a:gs pos="76000">
                <a:schemeClr val="bg1">
                  <a:alpha val="0"/>
                </a:schemeClr>
              </a:gs>
              <a:gs pos="21000">
                <a:schemeClr val="bg1"/>
              </a:gs>
            </a:gsLst>
            <a:lin ang="0" scaled="0"/>
            <a:tileRect/>
          </a:gra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6">
            <a:extLst>
              <a:ext uri="{FF2B5EF4-FFF2-40B4-BE49-F238E27FC236}">
                <a16:creationId xmlns:a16="http://schemas.microsoft.com/office/drawing/2014/main" id="{22DEE518-764D-348D-8832-79DB367655CA}"/>
              </a:ext>
            </a:extLst>
          </p:cNvPr>
          <p:cNvSpPr>
            <a:spLocks noGrp="1"/>
          </p:cNvSpPr>
          <p:nvPr>
            <p:ph type="ctrTitle"/>
          </p:nvPr>
        </p:nvSpPr>
        <p:spPr>
          <a:xfrm>
            <a:off x="952229" y="920749"/>
            <a:ext cx="3734072" cy="2613025"/>
          </a:xfrm>
          <a:noFill/>
        </p:spPr>
        <p:txBody>
          <a:bodyPr>
            <a:normAutofit fontScale="90000"/>
          </a:bodyPr>
          <a:lstStyle/>
          <a:p>
            <a:pPr algn="l"/>
            <a:r>
              <a:rPr lang="en-US" sz="5300" dirty="0"/>
              <a:t>The Signaling Gap:</a:t>
            </a:r>
            <a:br>
              <a:rPr lang="en-US" sz="3300" dirty="0"/>
            </a:br>
            <a:r>
              <a:rPr lang="en-US" sz="2400" dirty="0">
                <a:solidFill>
                  <a:schemeClr val="bg1">
                    <a:lumMod val="50000"/>
                  </a:schemeClr>
                </a:solidFill>
              </a:rPr>
              <a:t>State-Owned Media and the Strategic Management of Sentiment during the Russian Invasion of Ukraine</a:t>
            </a:r>
            <a:endParaRPr lang="en-US" sz="3300" dirty="0">
              <a:solidFill>
                <a:schemeClr val="bg1">
                  <a:lumMod val="50000"/>
                </a:schemeClr>
              </a:solidFill>
            </a:endParaRPr>
          </a:p>
        </p:txBody>
      </p:sp>
      <p:sp>
        <p:nvSpPr>
          <p:cNvPr id="6" name="Subtitle 7">
            <a:extLst>
              <a:ext uri="{FF2B5EF4-FFF2-40B4-BE49-F238E27FC236}">
                <a16:creationId xmlns:a16="http://schemas.microsoft.com/office/drawing/2014/main" id="{08630085-1B3E-2CC6-251C-BB5C348CB1AB}"/>
              </a:ext>
            </a:extLst>
          </p:cNvPr>
          <p:cNvSpPr>
            <a:spLocks noGrp="1"/>
          </p:cNvSpPr>
          <p:nvPr>
            <p:ph type="subTitle" idx="1"/>
          </p:nvPr>
        </p:nvSpPr>
        <p:spPr>
          <a:xfrm>
            <a:off x="952229" y="3727534"/>
            <a:ext cx="3973386" cy="1485319"/>
          </a:xfrm>
          <a:noFill/>
        </p:spPr>
        <p:txBody>
          <a:bodyPr>
            <a:normAutofit/>
          </a:bodyPr>
          <a:lstStyle/>
          <a:p>
            <a:pPr algn="l"/>
            <a:r>
              <a:rPr lang="en-US" dirty="0"/>
              <a:t>Donald Moratz</a:t>
            </a:r>
          </a:p>
          <a:p>
            <a:pPr algn="l"/>
            <a:r>
              <a:rPr lang="en-US" dirty="0"/>
              <a:t>Political Science</a:t>
            </a:r>
          </a:p>
          <a:p>
            <a:pPr algn="l"/>
            <a:endParaRPr lang="en-US" dirty="0"/>
          </a:p>
        </p:txBody>
      </p:sp>
      <p:sp>
        <p:nvSpPr>
          <p:cNvPr id="7" name="TextBox 6">
            <a:extLst>
              <a:ext uri="{FF2B5EF4-FFF2-40B4-BE49-F238E27FC236}">
                <a16:creationId xmlns:a16="http://schemas.microsoft.com/office/drawing/2014/main" id="{743C9226-A76F-C77B-B426-3DC9A96ACBC1}"/>
              </a:ext>
            </a:extLst>
          </p:cNvPr>
          <p:cNvSpPr txBox="1"/>
          <p:nvPr/>
        </p:nvSpPr>
        <p:spPr>
          <a:xfrm>
            <a:off x="8993557" y="5435600"/>
            <a:ext cx="2882520" cy="246221"/>
          </a:xfrm>
          <a:prstGeom prst="rect">
            <a:avLst/>
          </a:prstGeom>
          <a:noFill/>
        </p:spPr>
        <p:txBody>
          <a:bodyPr wrap="none" rtlCol="0">
            <a:spAutoFit/>
          </a:bodyPr>
          <a:lstStyle/>
          <a:p>
            <a:r>
              <a:rPr lang="en-US" sz="1000" dirty="0">
                <a:solidFill>
                  <a:schemeClr val="bg1">
                    <a:lumMod val="50000"/>
                  </a:schemeClr>
                </a:solidFill>
              </a:rPr>
              <a:t>Photo: REUTERS/Carlos Barria February 24, 2022</a:t>
            </a:r>
          </a:p>
        </p:txBody>
      </p:sp>
    </p:spTree>
    <p:extLst>
      <p:ext uri="{BB962C8B-B14F-4D97-AF65-F5344CB8AC3E}">
        <p14:creationId xmlns:p14="http://schemas.microsoft.com/office/powerpoint/2010/main" val="18918220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43F541-1368-449C-F099-825B89520CAE}"/>
              </a:ext>
            </a:extLst>
          </p:cNvPr>
          <p:cNvSpPr>
            <a:spLocks noGrp="1"/>
          </p:cNvSpPr>
          <p:nvPr>
            <p:ph type="title"/>
          </p:nvPr>
        </p:nvSpPr>
        <p:spPr/>
        <p:txBody>
          <a:bodyPr/>
          <a:lstStyle/>
          <a:p>
            <a:r>
              <a:rPr lang="en-US" dirty="0"/>
              <a:t>The Bind</a:t>
            </a:r>
          </a:p>
        </p:txBody>
      </p:sp>
      <p:sp>
        <p:nvSpPr>
          <p:cNvPr id="3" name="Content Placeholder 2">
            <a:extLst>
              <a:ext uri="{FF2B5EF4-FFF2-40B4-BE49-F238E27FC236}">
                <a16:creationId xmlns:a16="http://schemas.microsoft.com/office/drawing/2014/main" id="{46927F55-A018-DC69-9363-46F5CF061DB7}"/>
              </a:ext>
            </a:extLst>
          </p:cNvPr>
          <p:cNvSpPr>
            <a:spLocks noGrp="1"/>
          </p:cNvSpPr>
          <p:nvPr>
            <p:ph idx="1"/>
          </p:nvPr>
        </p:nvSpPr>
        <p:spPr/>
        <p:txBody>
          <a:bodyPr/>
          <a:lstStyle/>
          <a:p>
            <a:pPr marL="0" indent="0">
              <a:buNone/>
            </a:pPr>
            <a:r>
              <a:rPr lang="en-US" dirty="0"/>
              <a:t>Your treaty ally just invaded a sovereign state.</a:t>
            </a:r>
          </a:p>
          <a:p>
            <a:pPr marL="0" indent="0">
              <a:buNone/>
            </a:pPr>
            <a:r>
              <a:rPr lang="en-US" dirty="0"/>
              <a:t>You can't condemn them — they guarantee your security.</a:t>
            </a:r>
          </a:p>
          <a:p>
            <a:pPr marL="0" indent="0">
              <a:buNone/>
            </a:pPr>
            <a:r>
              <a:rPr lang="en-US" dirty="0"/>
              <a:t>You can't stay silent — the West is watching.</a:t>
            </a:r>
          </a:p>
        </p:txBody>
      </p:sp>
    </p:spTree>
    <p:extLst>
      <p:ext uri="{BB962C8B-B14F-4D97-AF65-F5344CB8AC3E}">
        <p14:creationId xmlns:p14="http://schemas.microsoft.com/office/powerpoint/2010/main" val="6271063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43F541-1368-449C-F099-825B89520CAE}"/>
              </a:ext>
            </a:extLst>
          </p:cNvPr>
          <p:cNvSpPr>
            <a:spLocks noGrp="1"/>
          </p:cNvSpPr>
          <p:nvPr>
            <p:ph type="title"/>
          </p:nvPr>
        </p:nvSpPr>
        <p:spPr/>
        <p:txBody>
          <a:bodyPr/>
          <a:lstStyle/>
          <a:p>
            <a:r>
              <a:rPr lang="en-US" dirty="0"/>
              <a:t>The Hidden Channel</a:t>
            </a:r>
          </a:p>
        </p:txBody>
      </p:sp>
      <p:cxnSp>
        <p:nvCxnSpPr>
          <p:cNvPr id="5" name="Straight Arrow Connector 4">
            <a:extLst>
              <a:ext uri="{FF2B5EF4-FFF2-40B4-BE49-F238E27FC236}">
                <a16:creationId xmlns:a16="http://schemas.microsoft.com/office/drawing/2014/main" id="{EA0E07CB-C05D-4DE3-2651-93F23941D988}"/>
              </a:ext>
            </a:extLst>
          </p:cNvPr>
          <p:cNvCxnSpPr/>
          <p:nvPr/>
        </p:nvCxnSpPr>
        <p:spPr>
          <a:xfrm flipV="1">
            <a:off x="698500" y="2597150"/>
            <a:ext cx="10881360" cy="0"/>
          </a:xfrm>
          <a:prstGeom prst="straightConnector1">
            <a:avLst/>
          </a:prstGeom>
          <a:ln w="25400">
            <a:solidFill>
              <a:schemeClr val="accent1">
                <a:lumMod val="75000"/>
              </a:schemeClr>
            </a:solidFill>
            <a:tailEnd type="triangle"/>
          </a:ln>
        </p:spPr>
        <p:style>
          <a:lnRef idx="3">
            <a:schemeClr val="accent1"/>
          </a:lnRef>
          <a:fillRef idx="0">
            <a:schemeClr val="accent1"/>
          </a:fillRef>
          <a:effectRef idx="2">
            <a:schemeClr val="accent1"/>
          </a:effectRef>
          <a:fontRef idx="minor">
            <a:schemeClr val="tx1"/>
          </a:fontRef>
        </p:style>
      </p:cxnSp>
      <p:sp>
        <p:nvSpPr>
          <p:cNvPr id="6" name="Oval 5">
            <a:extLst>
              <a:ext uri="{FF2B5EF4-FFF2-40B4-BE49-F238E27FC236}">
                <a16:creationId xmlns:a16="http://schemas.microsoft.com/office/drawing/2014/main" id="{8F347743-6E3F-3427-1FA7-4BB382829FAD}"/>
              </a:ext>
            </a:extLst>
          </p:cNvPr>
          <p:cNvSpPr/>
          <p:nvPr/>
        </p:nvSpPr>
        <p:spPr>
          <a:xfrm>
            <a:off x="1485900" y="2470150"/>
            <a:ext cx="266700" cy="266700"/>
          </a:xfrm>
          <a:prstGeom prst="ellipse">
            <a:avLst/>
          </a:prstGeom>
          <a:solidFill>
            <a:schemeClr val="accent1">
              <a:lumMod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6CF4B77-E5B3-B824-6B24-0E15B4A8070E}"/>
              </a:ext>
            </a:extLst>
          </p:cNvPr>
          <p:cNvSpPr txBox="1"/>
          <p:nvPr/>
        </p:nvSpPr>
        <p:spPr>
          <a:xfrm>
            <a:off x="1257300" y="2044700"/>
            <a:ext cx="720262" cy="369332"/>
          </a:xfrm>
          <a:prstGeom prst="rect">
            <a:avLst/>
          </a:prstGeom>
          <a:noFill/>
        </p:spPr>
        <p:txBody>
          <a:bodyPr wrap="none" rtlCol="0">
            <a:spAutoFit/>
          </a:bodyPr>
          <a:lstStyle/>
          <a:p>
            <a:r>
              <a:rPr lang="en-US" dirty="0"/>
              <a:t>1939</a:t>
            </a:r>
          </a:p>
        </p:txBody>
      </p:sp>
      <p:sp>
        <p:nvSpPr>
          <p:cNvPr id="8" name="TextBox 7">
            <a:extLst>
              <a:ext uri="{FF2B5EF4-FFF2-40B4-BE49-F238E27FC236}">
                <a16:creationId xmlns:a16="http://schemas.microsoft.com/office/drawing/2014/main" id="{1502D6CC-A97E-86A0-D9A9-98F0B8F1E3E6}"/>
              </a:ext>
            </a:extLst>
          </p:cNvPr>
          <p:cNvSpPr txBox="1"/>
          <p:nvPr/>
        </p:nvSpPr>
        <p:spPr>
          <a:xfrm>
            <a:off x="749300" y="2870200"/>
            <a:ext cx="1752146" cy="646331"/>
          </a:xfrm>
          <a:prstGeom prst="rect">
            <a:avLst/>
          </a:prstGeom>
          <a:noFill/>
        </p:spPr>
        <p:txBody>
          <a:bodyPr wrap="none" rtlCol="0">
            <a:spAutoFit/>
          </a:bodyPr>
          <a:lstStyle/>
          <a:p>
            <a:pPr algn="ctr"/>
            <a:r>
              <a:rPr lang="en-US" dirty="0"/>
              <a:t>BBC Monitoring </a:t>
            </a:r>
          </a:p>
          <a:p>
            <a:pPr algn="ctr"/>
            <a:r>
              <a:rPr lang="en-US" dirty="0"/>
              <a:t>Established</a:t>
            </a:r>
          </a:p>
        </p:txBody>
      </p:sp>
      <p:sp>
        <p:nvSpPr>
          <p:cNvPr id="9" name="Oval 8">
            <a:extLst>
              <a:ext uri="{FF2B5EF4-FFF2-40B4-BE49-F238E27FC236}">
                <a16:creationId xmlns:a16="http://schemas.microsoft.com/office/drawing/2014/main" id="{37D5A32F-7D29-F250-72D6-371B8EAF6CBF}"/>
              </a:ext>
            </a:extLst>
          </p:cNvPr>
          <p:cNvSpPr/>
          <p:nvPr/>
        </p:nvSpPr>
        <p:spPr>
          <a:xfrm>
            <a:off x="4305300" y="2470150"/>
            <a:ext cx="266700" cy="266700"/>
          </a:xfrm>
          <a:prstGeom prst="ellipse">
            <a:avLst/>
          </a:prstGeom>
          <a:solidFill>
            <a:schemeClr val="accent1">
              <a:lumMod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9BE7D04B-6E44-F5D4-8B19-013489C130A6}"/>
              </a:ext>
            </a:extLst>
          </p:cNvPr>
          <p:cNvSpPr txBox="1"/>
          <p:nvPr/>
        </p:nvSpPr>
        <p:spPr>
          <a:xfrm>
            <a:off x="4076700" y="2044700"/>
            <a:ext cx="703654" cy="369332"/>
          </a:xfrm>
          <a:prstGeom prst="rect">
            <a:avLst/>
          </a:prstGeom>
          <a:noFill/>
        </p:spPr>
        <p:txBody>
          <a:bodyPr wrap="none" rtlCol="0">
            <a:spAutoFit/>
          </a:bodyPr>
          <a:lstStyle/>
          <a:p>
            <a:r>
              <a:rPr lang="en-US" dirty="0"/>
              <a:t>1941</a:t>
            </a:r>
          </a:p>
        </p:txBody>
      </p:sp>
      <p:sp>
        <p:nvSpPr>
          <p:cNvPr id="11" name="TextBox 10">
            <a:extLst>
              <a:ext uri="{FF2B5EF4-FFF2-40B4-BE49-F238E27FC236}">
                <a16:creationId xmlns:a16="http://schemas.microsoft.com/office/drawing/2014/main" id="{397A8E1B-3418-4882-9FC2-2CE3FD3DE088}"/>
              </a:ext>
            </a:extLst>
          </p:cNvPr>
          <p:cNvSpPr txBox="1"/>
          <p:nvPr/>
        </p:nvSpPr>
        <p:spPr>
          <a:xfrm>
            <a:off x="3785781" y="2870200"/>
            <a:ext cx="1317990" cy="646331"/>
          </a:xfrm>
          <a:prstGeom prst="rect">
            <a:avLst/>
          </a:prstGeom>
          <a:noFill/>
        </p:spPr>
        <p:txBody>
          <a:bodyPr wrap="none" rtlCol="0">
            <a:spAutoFit/>
          </a:bodyPr>
          <a:lstStyle/>
          <a:p>
            <a:pPr algn="ctr"/>
            <a:r>
              <a:rPr lang="en-US" dirty="0"/>
              <a:t>U.S. FBIS</a:t>
            </a:r>
          </a:p>
          <a:p>
            <a:pPr algn="ctr"/>
            <a:r>
              <a:rPr lang="en-US" dirty="0"/>
              <a:t>Established</a:t>
            </a:r>
          </a:p>
        </p:txBody>
      </p:sp>
      <p:sp>
        <p:nvSpPr>
          <p:cNvPr id="12" name="Oval 11">
            <a:extLst>
              <a:ext uri="{FF2B5EF4-FFF2-40B4-BE49-F238E27FC236}">
                <a16:creationId xmlns:a16="http://schemas.microsoft.com/office/drawing/2014/main" id="{B1BDACAD-2B42-0E83-1234-226B4EF05EC4}"/>
              </a:ext>
            </a:extLst>
          </p:cNvPr>
          <p:cNvSpPr/>
          <p:nvPr/>
        </p:nvSpPr>
        <p:spPr>
          <a:xfrm>
            <a:off x="7334250" y="2470150"/>
            <a:ext cx="266700" cy="266700"/>
          </a:xfrm>
          <a:prstGeom prst="ellipse">
            <a:avLst/>
          </a:prstGeom>
          <a:solidFill>
            <a:schemeClr val="accent1">
              <a:lumMod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10855DF8-49EC-A04D-0DE3-9341DAE9CC86}"/>
              </a:ext>
            </a:extLst>
          </p:cNvPr>
          <p:cNvSpPr txBox="1"/>
          <p:nvPr/>
        </p:nvSpPr>
        <p:spPr>
          <a:xfrm>
            <a:off x="6934200" y="2044700"/>
            <a:ext cx="1053943" cy="369332"/>
          </a:xfrm>
          <a:prstGeom prst="rect">
            <a:avLst/>
          </a:prstGeom>
          <a:noFill/>
        </p:spPr>
        <p:txBody>
          <a:bodyPr wrap="none" rtlCol="0">
            <a:spAutoFit/>
          </a:bodyPr>
          <a:lstStyle/>
          <a:p>
            <a:r>
              <a:rPr lang="en-US" dirty="0"/>
              <a:t>Cold War</a:t>
            </a:r>
          </a:p>
        </p:txBody>
      </p:sp>
      <p:sp>
        <p:nvSpPr>
          <p:cNvPr id="14" name="TextBox 13">
            <a:extLst>
              <a:ext uri="{FF2B5EF4-FFF2-40B4-BE49-F238E27FC236}">
                <a16:creationId xmlns:a16="http://schemas.microsoft.com/office/drawing/2014/main" id="{25DD1E2E-6149-7E2C-B1A9-3055933701EF}"/>
              </a:ext>
            </a:extLst>
          </p:cNvPr>
          <p:cNvSpPr txBox="1"/>
          <p:nvPr/>
        </p:nvSpPr>
        <p:spPr>
          <a:xfrm>
            <a:off x="6721761" y="2870200"/>
            <a:ext cx="1503938" cy="646331"/>
          </a:xfrm>
          <a:prstGeom prst="rect">
            <a:avLst/>
          </a:prstGeom>
          <a:noFill/>
        </p:spPr>
        <p:txBody>
          <a:bodyPr wrap="none" rtlCol="0">
            <a:spAutoFit/>
          </a:bodyPr>
          <a:lstStyle/>
          <a:p>
            <a:pPr algn="ctr"/>
            <a:r>
              <a:rPr lang="en-US" dirty="0"/>
              <a:t>Kremlinology </a:t>
            </a:r>
          </a:p>
          <a:p>
            <a:pPr algn="ctr"/>
            <a:r>
              <a:rPr lang="en-US" dirty="0"/>
              <a:t>Tradition </a:t>
            </a:r>
          </a:p>
        </p:txBody>
      </p:sp>
      <p:sp>
        <p:nvSpPr>
          <p:cNvPr id="15" name="Oval 14">
            <a:extLst>
              <a:ext uri="{FF2B5EF4-FFF2-40B4-BE49-F238E27FC236}">
                <a16:creationId xmlns:a16="http://schemas.microsoft.com/office/drawing/2014/main" id="{31408E9A-19BC-B138-4F7F-9EC893555297}"/>
              </a:ext>
            </a:extLst>
          </p:cNvPr>
          <p:cNvSpPr/>
          <p:nvPr/>
        </p:nvSpPr>
        <p:spPr>
          <a:xfrm>
            <a:off x="10629900" y="2470150"/>
            <a:ext cx="266700" cy="266700"/>
          </a:xfrm>
          <a:prstGeom prst="ellipse">
            <a:avLst/>
          </a:prstGeom>
          <a:solidFill>
            <a:schemeClr val="accent1">
              <a:lumMod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584C13CB-D33E-277C-C20C-7F08EB57B07E}"/>
              </a:ext>
            </a:extLst>
          </p:cNvPr>
          <p:cNvSpPr txBox="1"/>
          <p:nvPr/>
        </p:nvSpPr>
        <p:spPr>
          <a:xfrm>
            <a:off x="10401300" y="2044700"/>
            <a:ext cx="713144" cy="369332"/>
          </a:xfrm>
          <a:prstGeom prst="rect">
            <a:avLst/>
          </a:prstGeom>
          <a:noFill/>
        </p:spPr>
        <p:txBody>
          <a:bodyPr wrap="none" rtlCol="0">
            <a:spAutoFit/>
          </a:bodyPr>
          <a:lstStyle/>
          <a:p>
            <a:r>
              <a:rPr lang="en-US" dirty="0"/>
              <a:t>2024</a:t>
            </a:r>
          </a:p>
        </p:txBody>
      </p:sp>
      <p:sp>
        <p:nvSpPr>
          <p:cNvPr id="17" name="TextBox 16">
            <a:extLst>
              <a:ext uri="{FF2B5EF4-FFF2-40B4-BE49-F238E27FC236}">
                <a16:creationId xmlns:a16="http://schemas.microsoft.com/office/drawing/2014/main" id="{0F3F571B-E87C-EF68-A69D-7BD0C575F96A}"/>
              </a:ext>
            </a:extLst>
          </p:cNvPr>
          <p:cNvSpPr txBox="1"/>
          <p:nvPr/>
        </p:nvSpPr>
        <p:spPr>
          <a:xfrm>
            <a:off x="10032155" y="2870200"/>
            <a:ext cx="1474443" cy="646331"/>
          </a:xfrm>
          <a:prstGeom prst="rect">
            <a:avLst/>
          </a:prstGeom>
          <a:noFill/>
        </p:spPr>
        <p:txBody>
          <a:bodyPr wrap="none" rtlCol="0">
            <a:spAutoFit/>
          </a:bodyPr>
          <a:lstStyle/>
          <a:p>
            <a:pPr algn="ctr"/>
            <a:r>
              <a:rPr lang="en-US" dirty="0"/>
              <a:t>U.S. IC OSINT</a:t>
            </a:r>
          </a:p>
          <a:p>
            <a:pPr algn="ctr"/>
            <a:r>
              <a:rPr lang="en-US" dirty="0"/>
              <a:t>Strategy</a:t>
            </a:r>
          </a:p>
        </p:txBody>
      </p:sp>
      <p:sp>
        <p:nvSpPr>
          <p:cNvPr id="20" name="Content Placeholder 2">
            <a:extLst>
              <a:ext uri="{FF2B5EF4-FFF2-40B4-BE49-F238E27FC236}">
                <a16:creationId xmlns:a16="http://schemas.microsoft.com/office/drawing/2014/main" id="{000A8081-E9A9-33AA-6520-8B6F8E1A95D9}"/>
              </a:ext>
            </a:extLst>
          </p:cNvPr>
          <p:cNvSpPr>
            <a:spLocks noGrp="1"/>
          </p:cNvSpPr>
          <p:nvPr>
            <p:ph idx="1"/>
          </p:nvPr>
        </p:nvSpPr>
        <p:spPr>
          <a:xfrm>
            <a:off x="838200" y="4219575"/>
            <a:ext cx="10515600" cy="1044574"/>
          </a:xfrm>
        </p:spPr>
        <p:txBody>
          <a:bodyPr/>
          <a:lstStyle/>
          <a:p>
            <a:pPr marL="0" indent="0">
              <a:buNone/>
            </a:pPr>
            <a:r>
              <a:rPr lang="en-US" dirty="0"/>
              <a:t>Academics study state media as propaganda. Intelligence agencies read it as signal.</a:t>
            </a:r>
          </a:p>
        </p:txBody>
      </p:sp>
    </p:spTree>
    <p:extLst>
      <p:ext uri="{BB962C8B-B14F-4D97-AF65-F5344CB8AC3E}">
        <p14:creationId xmlns:p14="http://schemas.microsoft.com/office/powerpoint/2010/main" val="2611501836"/>
      </p:ext>
    </p:extLst>
  </p:cSld>
  <p:clrMapOvr>
    <a:masterClrMapping/>
  </p:clrMapOvr>
</p:sld>
</file>

<file path=ppt/theme/theme1.xml><?xml version="1.0" encoding="utf-8"?>
<a:theme xmlns:a="http://schemas.openxmlformats.org/drawingml/2006/main" name="Office Theme">
  <a:themeElements>
    <a:clrScheme name="Green">
      <a:dk1>
        <a:sysClr val="windowText" lastClr="000000"/>
      </a:dk1>
      <a:lt1>
        <a:sysClr val="window" lastClr="FFFFFF"/>
      </a:lt1>
      <a:dk2>
        <a:srgbClr val="455F51"/>
      </a:dk2>
      <a:lt2>
        <a:srgbClr val="E3DED1"/>
      </a:lt2>
      <a:accent1>
        <a:srgbClr val="549E39"/>
      </a:accent1>
      <a:accent2>
        <a:srgbClr val="8AB833"/>
      </a:accent2>
      <a:accent3>
        <a:srgbClr val="C0CF3A"/>
      </a:accent3>
      <a:accent4>
        <a:srgbClr val="029676"/>
      </a:accent4>
      <a:accent5>
        <a:srgbClr val="4AB5C4"/>
      </a:accent5>
      <a:accent6>
        <a:srgbClr val="0989B1"/>
      </a:accent6>
      <a:hlink>
        <a:srgbClr val="6B9F25"/>
      </a:hlink>
      <a:folHlink>
        <a:srgbClr val="BA6906"/>
      </a:folHlink>
    </a:clrScheme>
    <a:fontScheme name="Franklin Gothic">
      <a:majorFont>
        <a:latin typeface="Franklin Gothic Medium" panose="020B0603020102020204"/>
        <a:ea typeface=""/>
        <a:cs typeface=""/>
        <a:font script="Jpan" typeface="HG創英角ｺﾞｼｯｸUB"/>
        <a:font script="Hang" typeface="돋움"/>
        <a:font script="Hans" typeface="隶书"/>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Franklin Gothic Book" panose="020B0503020102020204"/>
        <a:ea typeface=""/>
        <a:cs typeface=""/>
        <a:font script="Jpan" typeface="HGｺﾞｼｯｸE"/>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8A6B2C9B-DBFE-3846-9F9F-E2CD9900826C}" vid="{680FA9D2-4CD4-F145-8A3E-6DB78AC5586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2025-PGT-Finalists_Template</Template>
  <TotalTime>134</TotalTime>
  <Words>297</Words>
  <Application>Microsoft Office PowerPoint</Application>
  <PresentationFormat>Widescreen</PresentationFormat>
  <Paragraphs>28</Paragraphs>
  <Slides>3</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Aptos</vt:lpstr>
      <vt:lpstr>Arial</vt:lpstr>
      <vt:lpstr>Franklin Gothic Book</vt:lpstr>
      <vt:lpstr>Franklin Gothic Medium</vt:lpstr>
      <vt:lpstr>Office Theme</vt:lpstr>
      <vt:lpstr>The Signaling Gap: State-Owned Media and the Strategic Management of Sentiment during the Russian Invasion of Ukraine</vt:lpstr>
      <vt:lpstr>The Bind</vt:lpstr>
      <vt:lpstr>The Hidden Channel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Nicolais, Chelsea E.</dc:creator>
  <cp:lastModifiedBy>Moratz, Donald</cp:lastModifiedBy>
  <cp:revision>7</cp:revision>
  <cp:lastPrinted>2026-03-25T15:44:49Z</cp:lastPrinted>
  <dcterms:created xsi:type="dcterms:W3CDTF">2026-02-24T20:40:23Z</dcterms:created>
  <dcterms:modified xsi:type="dcterms:W3CDTF">2026-03-25T15:47:09Z</dcterms:modified>
</cp:coreProperties>
</file>