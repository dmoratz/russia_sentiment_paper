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0" d="100"/>
          <a:sy n="30" d="100"/>
        </p:scale>
        <p:origin x="132" y="-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41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27939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508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pen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800100"/>
            <a:ext cx="1810265" cy="2057400"/>
          </a:xfrm>
          <a:prstGeom prst="rect">
            <a:avLst/>
          </a:prstGeom>
        </p:spPr>
      </p:pic>
      <p:pic>
        <p:nvPicPr>
          <p:cNvPr id="4" name="Image 1" descr="assets/pen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9375" y="800100"/>
            <a:ext cx="1810265" cy="2057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181865" y="640080"/>
            <a:ext cx="3752747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6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Signaling Gap</a:t>
            </a:r>
            <a:endParaRPr lang="en-US" sz="6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5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State-Owned Media and the Strategic Management of Sentiment during the Russian Invasion of Ukraine</a:t>
            </a:r>
            <a:endParaRPr lang="en-US" sz="5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Donald Moratz  and  Sarah Gerstein      ·      dmoratz@sas.upenn.edu</a:t>
            </a:r>
            <a:endParaRPr lang="en-US" sz="4800" dirty="0"/>
          </a:p>
        </p:txBody>
      </p:sp>
      <p:sp>
        <p:nvSpPr>
          <p:cNvPr id="6" name="Shape 2"/>
          <p:cNvSpPr/>
          <p:nvPr/>
        </p:nvSpPr>
        <p:spPr>
          <a:xfrm>
            <a:off x="548640" y="3566160"/>
            <a:ext cx="13959840" cy="65836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48640" y="3794760"/>
            <a:ext cx="1395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960120" y="4818334"/>
            <a:ext cx="13136880" cy="5001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commitments enable cooperation but can foreclose dissent: a state bound to a patron cannot openly break with it without risking the security guarantee it depends on. We argue that state-owned media provides an institutionally mediated channel — public enough to be read by the foreign governments that monitor it, but not a formal act of state that would force a break.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 state media coverage across 174,094 news articles from 11 countries before and after the 2022 invasion of Ukraine, we find that states with Russian security agreements shifted </a:t>
            </a: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toward Russia than neutral states — even as they refused to condemn the invasion through formal channels. We measure sentiment at scale with a prompted large language model and identify the shift with a regression discontinuity at the invasion date.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connects political science, which has largely treated state media as a tool of domestic control, with an intelligence-analytic tradition that has read it as a window into regime preferences since the Cold War.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548640" y="10607040"/>
            <a:ext cx="13959840" cy="795528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8640" y="10835640"/>
            <a:ext cx="1395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Argument</a:t>
            </a:r>
            <a:endParaRPr lang="en-US" sz="5400" dirty="0"/>
          </a:p>
        </p:txBody>
      </p:sp>
      <p:sp>
        <p:nvSpPr>
          <p:cNvPr id="11" name="Text 7"/>
          <p:cNvSpPr/>
          <p:nvPr/>
        </p:nvSpPr>
        <p:spPr>
          <a:xfrm>
            <a:off x="960120" y="11637542"/>
            <a:ext cx="13136880" cy="6373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bind.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dependent on a patron for security cannot always say what they think: condemning the patron risks the guarantee they rely on; silence risks being lumped in with it.</a:t>
            </a:r>
            <a:endParaRPr lang="en-US" sz="240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channels, one gap.</a:t>
            </a:r>
            <a:endParaRPr lang="en-US" sz="2400" dirty="0"/>
          </a:p>
          <a:p>
            <a:pPr marL="685800" lvl="1" indent="-3429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channels (UN votes, statements) are credible because costly — and so unusable when the patron can retaliate.</a:t>
            </a:r>
            <a:endParaRPr lang="en-US" sz="2400" dirty="0"/>
          </a:p>
          <a:p>
            <a:pPr marL="685800" lvl="1" indent="-3429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diplomacy is safe but unverifiable — cheap talk to its intended audience.</a:t>
            </a:r>
            <a:endParaRPr lang="en-US" sz="2400" dirty="0"/>
          </a:p>
          <a:p>
            <a:pPr marL="685800" lvl="1" indent="-342900" algn="l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media sits between: public enough to be observed, but not a formal act of state.</a:t>
            </a:r>
            <a:endParaRPr lang="en-US" sz="240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signal is credible.</a:t>
            </a:r>
            <a:endParaRPr lang="en-US" sz="2400" dirty="0"/>
          </a:p>
          <a:p>
            <a:pPr marL="685800" lvl="1" indent="-342900" algn="l">
              <a:lnSpc>
                <a:spcPct val="105000"/>
              </a:lnSpc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—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outsiders have read state media as regime preference since the Cold War, not journalism.</a:t>
            </a:r>
            <a:endParaRPr lang="en-US" sz="2400" dirty="0"/>
          </a:p>
          <a:p>
            <a:pPr marL="685800" lvl="1" indent="-342900" algn="l">
              <a:lnSpc>
                <a:spcPct val="105000"/>
              </a:lnSpc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 —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permitting negative coverage of a patron risks provoking it, so the shift is informative.</a:t>
            </a:r>
            <a:endParaRPr lang="en-US" sz="2400" dirty="0"/>
          </a:p>
          <a:p>
            <a:pPr marL="685800" lvl="1" indent="-342900" algn="l">
              <a:lnSpc>
                <a:spcPct val="105000"/>
              </a:lnSpc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Buffered —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government/editorial separation keeps it below a formal break, reaching the audience without triggering retaliation.</a:t>
            </a:r>
            <a:endParaRPr lang="en-US" sz="2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calculus.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Signaling risks retaliation; silence risks being categorized with the aggressor. That asymmetry is what makes the signal rational — and the same logic should travel to any patron-client hierarchy.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548640" y="19019520"/>
            <a:ext cx="13959840" cy="1335024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48640" y="19248120"/>
            <a:ext cx="1395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Case: Why the 2022 Invasion</a:t>
            </a:r>
            <a:endParaRPr lang="en-US" sz="5400" dirty="0"/>
          </a:p>
        </p:txBody>
      </p:sp>
      <p:sp>
        <p:nvSpPr>
          <p:cNvPr id="14" name="Text 10"/>
          <p:cNvSpPr/>
          <p:nvPr/>
        </p:nvSpPr>
        <p:spPr>
          <a:xfrm>
            <a:off x="960120" y="20327112"/>
            <a:ext cx="13136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test of the mechanism needs three things, and February 24, 2022 supplies all three:</a:t>
            </a:r>
            <a:endParaRPr lang="en-US" sz="24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discrete shock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sharp break in the information environment, not a slow slide.</a:t>
            </a:r>
            <a:endParaRPr lang="en-US" sz="24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defined constraint structure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states bound to Russia by security agreements (CSTO plus Azerbaijan) vs. neutral states whose formal channels stayed open.</a:t>
            </a:r>
            <a:endParaRPr lang="en-US" sz="24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predictions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domestic-management and signaling accounts disagree about which group shifts more, so the data can adjudicate.</a:t>
            </a:r>
            <a:endParaRPr lang="en-US" sz="2400" dirty="0"/>
          </a:p>
        </p:txBody>
      </p:sp>
      <p:pic>
        <p:nvPicPr>
          <p:cNvPr id="15" name="Image 2" descr="assets/fig_reg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5080" y="23024592"/>
            <a:ext cx="9966960" cy="79735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4965680" y="3566160"/>
            <a:ext cx="13959840" cy="850392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14965680" y="3794760"/>
            <a:ext cx="1395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15377160" y="4873752"/>
            <a:ext cx="13136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· Baseline shock —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invasion drove a region-wide negative shift in sentiment toward Russia.</a:t>
            </a:r>
            <a:endParaRPr lang="en-US" sz="2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· Readability —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media manages coverage more carefully than independent media (a smaller shift).</a:t>
            </a:r>
            <a:endParaRPr lang="en-US" sz="2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· The signal —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Russia-aligned state media shifts more negative than neutral state media.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15377160" y="8119872"/>
            <a:ext cx="1313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pits the two accounts head-to-head:</a:t>
            </a:r>
            <a:endParaRPr lang="en-US" sz="2800" dirty="0"/>
          </a:p>
        </p:txBody>
      </p:sp>
      <p:sp>
        <p:nvSpPr>
          <p:cNvPr id="20" name="Shape 15"/>
          <p:cNvSpPr/>
          <p:nvPr/>
        </p:nvSpPr>
        <p:spPr>
          <a:xfrm>
            <a:off x="15377160" y="8577072"/>
            <a:ext cx="6408420" cy="1691640"/>
          </a:xfrm>
          <a:prstGeom prst="roundRect">
            <a:avLst>
              <a:gd name="adj" fmla="val 5405"/>
            </a:avLst>
          </a:prstGeom>
          <a:solidFill>
            <a:srgbClr val="F2F2F2"/>
          </a:solidFill>
          <a:ln w="15875">
            <a:solidFill>
              <a:srgbClr val="B9B9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5605760" y="8723376"/>
            <a:ext cx="59512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management</a:t>
            </a:r>
            <a:endParaRPr lang="en-US" sz="2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alliance → suppress coverage → </a:t>
            </a: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less negative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22105620" y="8577072"/>
            <a:ext cx="6408420" cy="1691640"/>
          </a:xfrm>
          <a:prstGeom prst="roundRect">
            <a:avLst>
              <a:gd name="adj" fmla="val 5405"/>
            </a:avLst>
          </a:prstGeom>
          <a:solidFill>
            <a:srgbClr val="F7F1F0"/>
          </a:solidFill>
          <a:ln w="15875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22334220" y="8723376"/>
            <a:ext cx="59512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Signaling (our account)</a:t>
            </a:r>
            <a:endParaRPr lang="en-US" sz="2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channels foreclosed → signal via media → </a:t>
            </a: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more negative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15377160" y="10469880"/>
            <a:ext cx="13136880" cy="713232"/>
          </a:xfrm>
          <a:prstGeom prst="roundRect">
            <a:avLst>
              <a:gd name="adj" fmla="val 12821"/>
            </a:avLst>
          </a:prstGeom>
          <a:solidFill>
            <a:srgbClr val="902F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15651480" y="10469880"/>
            <a:ext cx="1258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Russia-aligned state media shifts 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   ✓   signaling, not suppression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14965680" y="12527280"/>
            <a:ext cx="13959840" cy="11567160"/>
          </a:xfrm>
          <a:prstGeom prst="roundRect">
            <a:avLst>
              <a:gd name="adj" fmla="val 1265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14965680" y="12755880"/>
            <a:ext cx="1395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Measurement</a:t>
            </a:r>
            <a:endParaRPr lang="en-US" sz="5400" dirty="0"/>
          </a:p>
        </p:txBody>
      </p:sp>
      <p:sp>
        <p:nvSpPr>
          <p:cNvPr id="28" name="Text 23"/>
          <p:cNvSpPr/>
          <p:nvPr/>
        </p:nvSpPr>
        <p:spPr>
          <a:xfrm>
            <a:off x="15377160" y="13834872"/>
            <a:ext cx="13136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174,094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Russia-related articles, Aug 2021–Aug 2022; 11 countries, 61 sources (Ukraine excluded). State-owned (17) vs. independent (44) by ownership review.</a:t>
            </a:r>
            <a:endParaRPr lang="en-US" sz="24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zero-shot codes sentiment toward Russia (−1 / 0 / +1) from each article's title and first two sentences. Validated against a 100-article human gold standard: F1 = 0.92, with no −1↔+1 cross-codings — a conservative measure.</a:t>
            </a:r>
            <a:endParaRPr lang="en-US" sz="2400" dirty="0"/>
          </a:p>
        </p:txBody>
      </p:sp>
      <p:pic>
        <p:nvPicPr>
          <p:cNvPr id="29" name="Image 3" descr="assets/fig_artic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58408" y="15832976"/>
            <a:ext cx="12687067" cy="76122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5377160" y="23463504"/>
            <a:ext cx="1313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Russia-related articles by ownership; dashed line marks the Feb 24 invasion.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14965680" y="24551640"/>
            <a:ext cx="13959840" cy="7818120"/>
          </a:xfrm>
          <a:prstGeom prst="roundRect">
            <a:avLst>
              <a:gd name="adj" fmla="val 1871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14965680" y="24780240"/>
            <a:ext cx="1395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Design</a:t>
            </a:r>
            <a:endParaRPr lang="en-US" sz="5400" dirty="0"/>
          </a:p>
        </p:txBody>
      </p:sp>
      <p:sp>
        <p:nvSpPr>
          <p:cNvPr id="33" name="Text 27"/>
          <p:cNvSpPr/>
          <p:nvPr/>
        </p:nvSpPr>
        <p:spPr>
          <a:xfrm>
            <a:off x="15377160" y="25859232"/>
            <a:ext cx="13136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(within group).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regression discontinuity at Feb 24 identifies the causal effect of the invasion on sentiment toward Russia (rdrobust, MSE-optimal bandwidth).</a:t>
            </a:r>
            <a:endParaRPr lang="en-US" sz="24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/ H3 (across groups).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difference-in-discontinuities (RDID) compares how much more one group's sentiment jumped at the cutoff:</a:t>
            </a:r>
            <a:endParaRPr lang="en-US" sz="2400" dirty="0"/>
          </a:p>
        </p:txBody>
      </p:sp>
      <p:pic>
        <p:nvPicPr>
          <p:cNvPr id="34" name="Image 4" descr="assets/eq_rd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36240" y="28021928"/>
            <a:ext cx="12618720" cy="46856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5377160" y="29242512"/>
            <a:ext cx="131368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β5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treatment × group (T × G) term — is the differential discontinuity: causal within each group, but </a:t>
            </a:r>
            <a:r>
              <a:rPr lang="en-US" sz="24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on group membership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groups (stress-tested for confounding, not asserted as a causal effect of alignment).</a:t>
            </a:r>
            <a:endParaRPr lang="en-US" sz="24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Identification.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fixed effects block the country/ownership backdoors; topic fixed effects absorb compositional shifts; z-scoring lets the group term survive demeaning. Few-cluster inference via the wild-cluster restricted bootstrap.</a:t>
            </a:r>
            <a:endParaRPr lang="en-US" sz="2400" dirty="0"/>
          </a:p>
        </p:txBody>
      </p:sp>
      <p:sp>
        <p:nvSpPr>
          <p:cNvPr id="36" name="Shape 29"/>
          <p:cNvSpPr/>
          <p:nvPr/>
        </p:nvSpPr>
        <p:spPr>
          <a:xfrm>
            <a:off x="29382720" y="3566160"/>
            <a:ext cx="13959840" cy="16459200"/>
          </a:xfrm>
          <a:prstGeom prst="roundRect">
            <a:avLst>
              <a:gd name="adj" fmla="val 1048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29382720" y="3794760"/>
            <a:ext cx="1395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400" dirty="0"/>
          </a:p>
        </p:txBody>
      </p:sp>
      <p:sp>
        <p:nvSpPr>
          <p:cNvPr id="38" name="Text 31"/>
          <p:cNvSpPr/>
          <p:nvPr/>
        </p:nvSpPr>
        <p:spPr>
          <a:xfrm>
            <a:off x="29794200" y="4873752"/>
            <a:ext cx="1313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— A real shock.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toward Russia fell 0.22 SD at the cutoff (p &lt; 0.001), robust to dropping military coverage (0.18 SD).</a:t>
            </a:r>
            <a:endParaRPr lang="en-US" sz="2400" dirty="0"/>
          </a:p>
        </p:txBody>
      </p:sp>
      <p:sp>
        <p:nvSpPr>
          <p:cNvPr id="39" name="Text 32"/>
          <p:cNvSpPr/>
          <p:nvPr/>
        </p:nvSpPr>
        <p:spPr>
          <a:xfrm>
            <a:off x="29794200" y="5833872"/>
            <a:ext cx="1313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— State media holds the line.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media dropped 0.21 SD; state-owned only 0.11 SD — about half as much. The RDID interaction reaches 0.22 (p &lt; 0.05) among non-NATO outlets.</a:t>
            </a:r>
            <a:endParaRPr lang="en-US" sz="2400" dirty="0"/>
          </a:p>
        </p:txBody>
      </p:sp>
      <p:sp>
        <p:nvSpPr>
          <p:cNvPr id="41" name="Text 33"/>
          <p:cNvSpPr/>
          <p:nvPr/>
        </p:nvSpPr>
        <p:spPr>
          <a:xfrm>
            <a:off x="29794200" y="10360152"/>
            <a:ext cx="13136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— The constrained states signaled loudest.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Russia-aligned state media shifted −0.22 SD (p &lt; 0.05); neutral state media barely moved (−0.06, n.s.). Preferred matched estimate: −0.38 (p &lt; 0.05) — the opposite of domestic-audience management.</a:t>
            </a:r>
            <a:endParaRPr lang="en-US" sz="2400" dirty="0"/>
          </a:p>
        </p:txBody>
      </p:sp>
      <p:sp>
        <p:nvSpPr>
          <p:cNvPr id="43" name="Text 34"/>
          <p:cNvSpPr/>
          <p:nvPr/>
        </p:nvSpPr>
        <p:spPr>
          <a:xfrm>
            <a:off x="29794200" y="17382744"/>
            <a:ext cx="1313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Russia-aligned (blue→red) drops sharply at the cutoff; neutral (green→orange) stays flat.</a:t>
            </a:r>
            <a:endParaRPr lang="en-US" sz="2000" dirty="0"/>
          </a:p>
        </p:txBody>
      </p:sp>
      <p:sp>
        <p:nvSpPr>
          <p:cNvPr id="44" name="Shape 35"/>
          <p:cNvSpPr/>
          <p:nvPr/>
        </p:nvSpPr>
        <p:spPr>
          <a:xfrm>
            <a:off x="29794200" y="17794224"/>
            <a:ext cx="13136880" cy="1783080"/>
          </a:xfrm>
          <a:prstGeom prst="roundRect">
            <a:avLst>
              <a:gd name="adj" fmla="val 5128"/>
            </a:avLst>
          </a:prstGeom>
          <a:solidFill>
            <a:srgbClr val="F7F1F0"/>
          </a:solidFill>
          <a:ln w="127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6"/>
          <p:cNvSpPr/>
          <p:nvPr/>
        </p:nvSpPr>
        <p:spPr>
          <a:xfrm>
            <a:off x="30068520" y="17903952"/>
            <a:ext cx="1258824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i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outlet's own words.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Armenia's state broadcaster, two months apart — January: Russia as an economic partner (‘rail access to Russia, Europe, Iran, China’); March: ‘Russia walks out of the Council of Europe.’ Same outlet, opposite orientation: a regime choice in what it carried, while Armenia withheld formal condemnation.</a:t>
            </a:r>
            <a:endParaRPr lang="en-US" sz="2400" dirty="0"/>
          </a:p>
        </p:txBody>
      </p:sp>
      <p:sp>
        <p:nvSpPr>
          <p:cNvPr id="46" name="Shape 37"/>
          <p:cNvSpPr/>
          <p:nvPr/>
        </p:nvSpPr>
        <p:spPr>
          <a:xfrm>
            <a:off x="29382720" y="20482560"/>
            <a:ext cx="1395984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38"/>
          <p:cNvSpPr/>
          <p:nvPr/>
        </p:nvSpPr>
        <p:spPr>
          <a:xfrm>
            <a:off x="29382720" y="20711160"/>
            <a:ext cx="1395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3400" dirty="0"/>
          </a:p>
        </p:txBody>
      </p:sp>
      <p:sp>
        <p:nvSpPr>
          <p:cNvPr id="48" name="Text 39"/>
          <p:cNvSpPr/>
          <p:nvPr/>
        </p:nvSpPr>
        <p:spPr>
          <a:xfrm>
            <a:off x="29794200" y="21790152"/>
            <a:ext cx="768096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(Cinelli–Hazlett).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confounder would need to be 1.5× as strongly associated with sentiment as the invasion itself to erase the H3 differential.</a:t>
            </a:r>
            <a:endParaRPr lang="en-US" sz="24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Placebo + ethnic partition.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discontinuity at the Dec 7 announcement; splitting by ethnic-Russian share yields no differential — isolating the alliance-constraint mechanism.</a:t>
            </a:r>
            <a:endParaRPr lang="en-US" sz="2400" dirty="0"/>
          </a:p>
        </p:txBody>
      </p:sp>
      <p:pic>
        <p:nvPicPr>
          <p:cNvPr id="49" name="Image 7" descr="assets/fig_sensitiv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49480" y="21627244"/>
            <a:ext cx="4569594" cy="3198716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29382720" y="25511760"/>
            <a:ext cx="13959840" cy="37490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1"/>
          <p:cNvSpPr/>
          <p:nvPr/>
        </p:nvSpPr>
        <p:spPr>
          <a:xfrm>
            <a:off x="29382720" y="25740360"/>
            <a:ext cx="1395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2" name="Text 42"/>
          <p:cNvSpPr/>
          <p:nvPr/>
        </p:nvSpPr>
        <p:spPr>
          <a:xfrm>
            <a:off x="29794200" y="26597680"/>
            <a:ext cx="131368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patron–client theory and the IR literature on signaling — constrained clients use managed media to signal divergence from a patron.</a:t>
            </a:r>
            <a:endParaRPr lang="en-US" sz="2400" dirty="0"/>
          </a:p>
          <a:p>
            <a:pPr marL="342900" indent="-3429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Controlled-media sentiment is a deliberate signal of where a client stands toward its security partner — not a byproduct of domestic opinion.</a:t>
            </a:r>
            <a:endParaRPr lang="en-US" sz="24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a long-standing intelligence practice — reading state media for regime preferences — that political science had left largely unexamined.</a:t>
            </a:r>
            <a:endParaRPr lang="en-US" sz="2400" dirty="0"/>
          </a:p>
        </p:txBody>
      </p:sp>
      <p:sp>
        <p:nvSpPr>
          <p:cNvPr id="53" name="Shape 43"/>
          <p:cNvSpPr/>
          <p:nvPr/>
        </p:nvSpPr>
        <p:spPr>
          <a:xfrm>
            <a:off x="29382720" y="29718000"/>
            <a:ext cx="13959840" cy="26517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44"/>
          <p:cNvSpPr/>
          <p:nvPr/>
        </p:nvSpPr>
        <p:spPr>
          <a:xfrm>
            <a:off x="29382720" y="29946600"/>
            <a:ext cx="1395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References</a:t>
            </a:r>
            <a:endParaRPr lang="en-US" sz="3600" dirty="0"/>
          </a:p>
        </p:txBody>
      </p:sp>
      <p:sp>
        <p:nvSpPr>
          <p:cNvPr id="55" name="Text 45"/>
          <p:cNvSpPr/>
          <p:nvPr/>
        </p:nvSpPr>
        <p:spPr>
          <a:xfrm>
            <a:off x="29794200" y="30776211"/>
            <a:ext cx="13136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Cohen (1987). Theatre of Power. Longman.</a:t>
            </a:r>
            <a:endParaRPr lang="en-US" sz="2000" dirty="0"/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Fearon (1997). Signaling Foreign Policy Interests. J. Conflict Resolution 41(1).</a:t>
            </a:r>
            <a:endParaRPr lang="en-US" sz="2000" dirty="0"/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Grembi, Nannicini &amp; Troiano (2016). Do Fiscal Rules Matter? AEJ: Applied 8(3).</a:t>
            </a:r>
            <a:endParaRPr lang="en-US" sz="2000" dirty="0"/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Cinelli &amp; Hazlett (2020). Making Sense of Sensitivity. JRSS-B 82(1).</a:t>
            </a:r>
            <a:endParaRPr lang="en-US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8971842-B2E3-05D6-7CF1-8C7431C16D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34680" y="6728499"/>
            <a:ext cx="5116554" cy="358158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A26782D-E77B-4912-3ADC-66FA8C6522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90615" y="11637542"/>
            <a:ext cx="8071319" cy="56499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1216</Words>
  <Application>Microsoft Office PowerPoint</Application>
  <PresentationFormat>Custom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Signaling Gap</dc:title>
  <dc:subject>PptxGenJS Presentation</dc:subject>
  <dc:creator>Donald Moratz</dc:creator>
  <cp:lastModifiedBy>Moratz, Donald</cp:lastModifiedBy>
  <cp:revision>2</cp:revision>
  <dcterms:created xsi:type="dcterms:W3CDTF">2026-07-01T21:02:53Z</dcterms:created>
  <dcterms:modified xsi:type="dcterms:W3CDTF">2026-07-01T21:28:36Z</dcterms:modified>
</cp:coreProperties>
</file>